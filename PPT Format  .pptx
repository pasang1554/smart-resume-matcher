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CE6062-8F62-4B89-859D-0402CE6BD266}">
  <a:tblStyle styleId="{CBCE6062-8F62-4B89-859D-0402CE6BD26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1" name="Shape 11"/>
        <p:cNvGrpSpPr/>
        <p:nvPr/>
      </p:nvGrpSpPr>
      <p:grpSpPr>
        <a:xfrm>
          <a:off x="0" y="0"/>
          <a:ext cx="0" cy="0"/>
          <a:chOff x="0" y="0"/>
          <a:chExt cx="0" cy="0"/>
        </a:xfrm>
      </p:grpSpPr>
      <p:sp>
        <p:nvSpPr>
          <p:cNvPr id="12" name="Google Shape;12;p2"/>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0" type="dt"/>
          </p:nvPr>
        </p:nvSpPr>
        <p:spPr>
          <a:xfrm>
            <a:off x="911225" y="6435725"/>
            <a:ext cx="1090930" cy="2540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800">
                <a:solidFill>
                  <a:srgbClr val="37552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lvl1pPr indent="0" lvl="0" marL="77470">
              <a:lnSpc>
                <a:spcPct val="100555"/>
              </a:lnSpc>
              <a:spcBef>
                <a:spcPts val="0"/>
              </a:spcBef>
              <a:buNone/>
              <a:defRPr b="1" i="0" sz="1800">
                <a:solidFill>
                  <a:srgbClr val="375523"/>
                </a:solidFill>
                <a:latin typeface="Calibri"/>
                <a:ea typeface="Calibri"/>
                <a:cs typeface="Calibri"/>
                <a:sym typeface="Calibri"/>
              </a:defRPr>
            </a:lvl1pPr>
            <a:lvl2pPr indent="0" lvl="1" marL="77470">
              <a:lnSpc>
                <a:spcPct val="100555"/>
              </a:lnSpc>
              <a:spcBef>
                <a:spcPts val="0"/>
              </a:spcBef>
              <a:buNone/>
              <a:defRPr b="1" i="0" sz="1800">
                <a:solidFill>
                  <a:srgbClr val="375523"/>
                </a:solidFill>
                <a:latin typeface="Calibri"/>
                <a:ea typeface="Calibri"/>
                <a:cs typeface="Calibri"/>
                <a:sym typeface="Calibri"/>
              </a:defRPr>
            </a:lvl2pPr>
            <a:lvl3pPr indent="0" lvl="2" marL="77470">
              <a:lnSpc>
                <a:spcPct val="100555"/>
              </a:lnSpc>
              <a:spcBef>
                <a:spcPts val="0"/>
              </a:spcBef>
              <a:buNone/>
              <a:defRPr b="1" i="0" sz="1800">
                <a:solidFill>
                  <a:srgbClr val="375523"/>
                </a:solidFill>
                <a:latin typeface="Calibri"/>
                <a:ea typeface="Calibri"/>
                <a:cs typeface="Calibri"/>
                <a:sym typeface="Calibri"/>
              </a:defRPr>
            </a:lvl3pPr>
            <a:lvl4pPr indent="0" lvl="3" marL="77470">
              <a:lnSpc>
                <a:spcPct val="100555"/>
              </a:lnSpc>
              <a:spcBef>
                <a:spcPts val="0"/>
              </a:spcBef>
              <a:buNone/>
              <a:defRPr b="1" i="0" sz="1800">
                <a:solidFill>
                  <a:srgbClr val="375523"/>
                </a:solidFill>
                <a:latin typeface="Calibri"/>
                <a:ea typeface="Calibri"/>
                <a:cs typeface="Calibri"/>
                <a:sym typeface="Calibri"/>
              </a:defRPr>
            </a:lvl4pPr>
            <a:lvl5pPr indent="0" lvl="4" marL="77470">
              <a:lnSpc>
                <a:spcPct val="100555"/>
              </a:lnSpc>
              <a:spcBef>
                <a:spcPts val="0"/>
              </a:spcBef>
              <a:buNone/>
              <a:defRPr b="1" i="0" sz="1800">
                <a:solidFill>
                  <a:srgbClr val="375523"/>
                </a:solidFill>
                <a:latin typeface="Calibri"/>
                <a:ea typeface="Calibri"/>
                <a:cs typeface="Calibri"/>
                <a:sym typeface="Calibri"/>
              </a:defRPr>
            </a:lvl5pPr>
            <a:lvl6pPr indent="0" lvl="5" marL="77470">
              <a:lnSpc>
                <a:spcPct val="100555"/>
              </a:lnSpc>
              <a:spcBef>
                <a:spcPts val="0"/>
              </a:spcBef>
              <a:buNone/>
              <a:defRPr b="1" i="0" sz="1800">
                <a:solidFill>
                  <a:srgbClr val="375523"/>
                </a:solidFill>
                <a:latin typeface="Calibri"/>
                <a:ea typeface="Calibri"/>
                <a:cs typeface="Calibri"/>
                <a:sym typeface="Calibri"/>
              </a:defRPr>
            </a:lvl6pPr>
            <a:lvl7pPr indent="0" lvl="6" marL="77470">
              <a:lnSpc>
                <a:spcPct val="100555"/>
              </a:lnSpc>
              <a:spcBef>
                <a:spcPts val="0"/>
              </a:spcBef>
              <a:buNone/>
              <a:defRPr b="1" i="0" sz="1800">
                <a:solidFill>
                  <a:srgbClr val="375523"/>
                </a:solidFill>
                <a:latin typeface="Calibri"/>
                <a:ea typeface="Calibri"/>
                <a:cs typeface="Calibri"/>
                <a:sym typeface="Calibri"/>
              </a:defRPr>
            </a:lvl7pPr>
            <a:lvl8pPr indent="0" lvl="7" marL="77470">
              <a:lnSpc>
                <a:spcPct val="100555"/>
              </a:lnSpc>
              <a:spcBef>
                <a:spcPts val="0"/>
              </a:spcBef>
              <a:buNone/>
              <a:defRPr b="1" i="0" sz="1800">
                <a:solidFill>
                  <a:srgbClr val="375523"/>
                </a:solidFill>
                <a:latin typeface="Calibri"/>
                <a:ea typeface="Calibri"/>
                <a:cs typeface="Calibri"/>
                <a:sym typeface="Calibri"/>
              </a:defRPr>
            </a:lvl8pPr>
            <a:lvl9pPr indent="0" lvl="8" marL="77470">
              <a:lnSpc>
                <a:spcPct val="100555"/>
              </a:lnSpc>
              <a:spcBef>
                <a:spcPts val="0"/>
              </a:spcBef>
              <a:buNone/>
              <a:defRPr b="1" i="0" sz="1800">
                <a:solidFill>
                  <a:srgbClr val="375523"/>
                </a:solidFill>
                <a:latin typeface="Calibri"/>
                <a:ea typeface="Calibri"/>
                <a:cs typeface="Calibri"/>
                <a:sym typeface="Calibri"/>
              </a:defRPr>
            </a:lvl9pPr>
          </a:lstStyle>
          <a:p>
            <a:pPr indent="0" lvl="0" marL="77470" rtl="0" algn="l">
              <a:spcBef>
                <a:spcPts val="0"/>
              </a:spcBef>
              <a:spcAft>
                <a:spcPts val="0"/>
              </a:spcAft>
              <a:buNone/>
            </a:pPr>
            <a:fld id="{00000000-1234-1234-1234-123412341234}" type="slidenum">
              <a:rPr lang="en-US"/>
              <a:t>‹#›</a:t>
            </a:fld>
            <a:endParaRPr b="0">
              <a:solidFill>
                <a:srgbClr val="888888"/>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15" name="Shape 15"/>
        <p:cNvGrpSpPr/>
        <p:nvPr/>
      </p:nvGrpSpPr>
      <p:grpSpPr>
        <a:xfrm>
          <a:off x="0" y="0"/>
          <a:ext cx="0" cy="0"/>
          <a:chOff x="0" y="0"/>
          <a:chExt cx="0" cy="0"/>
        </a:xfrm>
      </p:grpSpPr>
      <p:sp>
        <p:nvSpPr>
          <p:cNvPr id="16" name="Google Shape;16;p3"/>
          <p:cNvSpPr/>
          <p:nvPr/>
        </p:nvSpPr>
        <p:spPr>
          <a:xfrm>
            <a:off x="838199" y="775855"/>
            <a:ext cx="10674985" cy="5445125"/>
          </a:xfrm>
          <a:custGeom>
            <a:rect b="b" l="l" r="r" t="t"/>
            <a:pathLst>
              <a:path extrusionOk="0" h="5445125" w="10674985">
                <a:moveTo>
                  <a:pt x="0" y="0"/>
                </a:moveTo>
                <a:lnTo>
                  <a:pt x="10674926" y="0"/>
                </a:lnTo>
                <a:lnTo>
                  <a:pt x="10674926" y="5444835"/>
                </a:lnTo>
                <a:lnTo>
                  <a:pt x="0" y="5444835"/>
                </a:lnTo>
                <a:lnTo>
                  <a:pt x="0" y="0"/>
                </a:lnTo>
                <a:close/>
              </a:path>
            </a:pathLst>
          </a:custGeom>
          <a:noFill/>
          <a:ln cap="flat" cmpd="sng" w="9525">
            <a:solidFill>
              <a:srgbClr val="C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2284015" y="240908"/>
            <a:ext cx="7623968" cy="3911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0070C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793750" y="1638736"/>
            <a:ext cx="10200640" cy="42335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 name="Google Shape;19;p3"/>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0" type="dt"/>
          </p:nvPr>
        </p:nvSpPr>
        <p:spPr>
          <a:xfrm>
            <a:off x="911225" y="6435725"/>
            <a:ext cx="1090930" cy="2540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800">
                <a:solidFill>
                  <a:srgbClr val="37552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lvl1pPr indent="0" lvl="0" marL="77470">
              <a:lnSpc>
                <a:spcPct val="100555"/>
              </a:lnSpc>
              <a:spcBef>
                <a:spcPts val="0"/>
              </a:spcBef>
              <a:buNone/>
              <a:defRPr b="1" i="0" sz="1800">
                <a:solidFill>
                  <a:srgbClr val="375523"/>
                </a:solidFill>
                <a:latin typeface="Calibri"/>
                <a:ea typeface="Calibri"/>
                <a:cs typeface="Calibri"/>
                <a:sym typeface="Calibri"/>
              </a:defRPr>
            </a:lvl1pPr>
            <a:lvl2pPr indent="0" lvl="1" marL="77470">
              <a:lnSpc>
                <a:spcPct val="100555"/>
              </a:lnSpc>
              <a:spcBef>
                <a:spcPts val="0"/>
              </a:spcBef>
              <a:buNone/>
              <a:defRPr b="1" i="0" sz="1800">
                <a:solidFill>
                  <a:srgbClr val="375523"/>
                </a:solidFill>
                <a:latin typeface="Calibri"/>
                <a:ea typeface="Calibri"/>
                <a:cs typeface="Calibri"/>
                <a:sym typeface="Calibri"/>
              </a:defRPr>
            </a:lvl2pPr>
            <a:lvl3pPr indent="0" lvl="2" marL="77470">
              <a:lnSpc>
                <a:spcPct val="100555"/>
              </a:lnSpc>
              <a:spcBef>
                <a:spcPts val="0"/>
              </a:spcBef>
              <a:buNone/>
              <a:defRPr b="1" i="0" sz="1800">
                <a:solidFill>
                  <a:srgbClr val="375523"/>
                </a:solidFill>
                <a:latin typeface="Calibri"/>
                <a:ea typeface="Calibri"/>
                <a:cs typeface="Calibri"/>
                <a:sym typeface="Calibri"/>
              </a:defRPr>
            </a:lvl3pPr>
            <a:lvl4pPr indent="0" lvl="3" marL="77470">
              <a:lnSpc>
                <a:spcPct val="100555"/>
              </a:lnSpc>
              <a:spcBef>
                <a:spcPts val="0"/>
              </a:spcBef>
              <a:buNone/>
              <a:defRPr b="1" i="0" sz="1800">
                <a:solidFill>
                  <a:srgbClr val="375523"/>
                </a:solidFill>
                <a:latin typeface="Calibri"/>
                <a:ea typeface="Calibri"/>
                <a:cs typeface="Calibri"/>
                <a:sym typeface="Calibri"/>
              </a:defRPr>
            </a:lvl4pPr>
            <a:lvl5pPr indent="0" lvl="4" marL="77470">
              <a:lnSpc>
                <a:spcPct val="100555"/>
              </a:lnSpc>
              <a:spcBef>
                <a:spcPts val="0"/>
              </a:spcBef>
              <a:buNone/>
              <a:defRPr b="1" i="0" sz="1800">
                <a:solidFill>
                  <a:srgbClr val="375523"/>
                </a:solidFill>
                <a:latin typeface="Calibri"/>
                <a:ea typeface="Calibri"/>
                <a:cs typeface="Calibri"/>
                <a:sym typeface="Calibri"/>
              </a:defRPr>
            </a:lvl5pPr>
            <a:lvl6pPr indent="0" lvl="5" marL="77470">
              <a:lnSpc>
                <a:spcPct val="100555"/>
              </a:lnSpc>
              <a:spcBef>
                <a:spcPts val="0"/>
              </a:spcBef>
              <a:buNone/>
              <a:defRPr b="1" i="0" sz="1800">
                <a:solidFill>
                  <a:srgbClr val="375523"/>
                </a:solidFill>
                <a:latin typeface="Calibri"/>
                <a:ea typeface="Calibri"/>
                <a:cs typeface="Calibri"/>
                <a:sym typeface="Calibri"/>
              </a:defRPr>
            </a:lvl6pPr>
            <a:lvl7pPr indent="0" lvl="6" marL="77470">
              <a:lnSpc>
                <a:spcPct val="100555"/>
              </a:lnSpc>
              <a:spcBef>
                <a:spcPts val="0"/>
              </a:spcBef>
              <a:buNone/>
              <a:defRPr b="1" i="0" sz="1800">
                <a:solidFill>
                  <a:srgbClr val="375523"/>
                </a:solidFill>
                <a:latin typeface="Calibri"/>
                <a:ea typeface="Calibri"/>
                <a:cs typeface="Calibri"/>
                <a:sym typeface="Calibri"/>
              </a:defRPr>
            </a:lvl7pPr>
            <a:lvl8pPr indent="0" lvl="7" marL="77470">
              <a:lnSpc>
                <a:spcPct val="100555"/>
              </a:lnSpc>
              <a:spcBef>
                <a:spcPts val="0"/>
              </a:spcBef>
              <a:buNone/>
              <a:defRPr b="1" i="0" sz="1800">
                <a:solidFill>
                  <a:srgbClr val="375523"/>
                </a:solidFill>
                <a:latin typeface="Calibri"/>
                <a:ea typeface="Calibri"/>
                <a:cs typeface="Calibri"/>
                <a:sym typeface="Calibri"/>
              </a:defRPr>
            </a:lvl8pPr>
            <a:lvl9pPr indent="0" lvl="8" marL="77470">
              <a:lnSpc>
                <a:spcPct val="100555"/>
              </a:lnSpc>
              <a:spcBef>
                <a:spcPts val="0"/>
              </a:spcBef>
              <a:buNone/>
              <a:defRPr b="1" i="0" sz="1800">
                <a:solidFill>
                  <a:srgbClr val="375523"/>
                </a:solidFill>
                <a:latin typeface="Calibri"/>
                <a:ea typeface="Calibri"/>
                <a:cs typeface="Calibri"/>
                <a:sym typeface="Calibri"/>
              </a:defRPr>
            </a:lvl9pPr>
          </a:lstStyle>
          <a:p>
            <a:pPr indent="0" lvl="0" marL="77470" rtl="0" algn="l">
              <a:spcBef>
                <a:spcPts val="0"/>
              </a:spcBef>
              <a:spcAft>
                <a:spcPts val="0"/>
              </a:spcAft>
              <a:buNone/>
            </a:pPr>
            <a:fld id="{00000000-1234-1234-1234-123412341234}" type="slidenum">
              <a:rPr lang="en-US"/>
              <a:t>‹#›</a:t>
            </a:fld>
            <a:endParaRPr b="0">
              <a:solidFill>
                <a:srgbClr val="888888"/>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2" name="Shape 22"/>
        <p:cNvGrpSpPr/>
        <p:nvPr/>
      </p:nvGrpSpPr>
      <p:grpSpPr>
        <a:xfrm>
          <a:off x="0" y="0"/>
          <a:ext cx="0" cy="0"/>
          <a:chOff x="0" y="0"/>
          <a:chExt cx="0" cy="0"/>
        </a:xfrm>
      </p:grpSpPr>
      <p:sp>
        <p:nvSpPr>
          <p:cNvPr id="23" name="Google Shape;23;p4"/>
          <p:cNvSpPr txBox="1"/>
          <p:nvPr>
            <p:ph type="title"/>
          </p:nvPr>
        </p:nvSpPr>
        <p:spPr>
          <a:xfrm>
            <a:off x="2284015" y="240908"/>
            <a:ext cx="7623968" cy="3911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0070C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0" type="dt"/>
          </p:nvPr>
        </p:nvSpPr>
        <p:spPr>
          <a:xfrm>
            <a:off x="911225" y="6435725"/>
            <a:ext cx="1090930" cy="2540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800">
                <a:solidFill>
                  <a:srgbClr val="37552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lvl1pPr indent="0" lvl="0" marL="77470">
              <a:lnSpc>
                <a:spcPct val="100555"/>
              </a:lnSpc>
              <a:spcBef>
                <a:spcPts val="0"/>
              </a:spcBef>
              <a:buNone/>
              <a:defRPr b="1" i="0" sz="1800">
                <a:solidFill>
                  <a:srgbClr val="375523"/>
                </a:solidFill>
                <a:latin typeface="Calibri"/>
                <a:ea typeface="Calibri"/>
                <a:cs typeface="Calibri"/>
                <a:sym typeface="Calibri"/>
              </a:defRPr>
            </a:lvl1pPr>
            <a:lvl2pPr indent="0" lvl="1" marL="77470">
              <a:lnSpc>
                <a:spcPct val="100555"/>
              </a:lnSpc>
              <a:spcBef>
                <a:spcPts val="0"/>
              </a:spcBef>
              <a:buNone/>
              <a:defRPr b="1" i="0" sz="1800">
                <a:solidFill>
                  <a:srgbClr val="375523"/>
                </a:solidFill>
                <a:latin typeface="Calibri"/>
                <a:ea typeface="Calibri"/>
                <a:cs typeface="Calibri"/>
                <a:sym typeface="Calibri"/>
              </a:defRPr>
            </a:lvl2pPr>
            <a:lvl3pPr indent="0" lvl="2" marL="77470">
              <a:lnSpc>
                <a:spcPct val="100555"/>
              </a:lnSpc>
              <a:spcBef>
                <a:spcPts val="0"/>
              </a:spcBef>
              <a:buNone/>
              <a:defRPr b="1" i="0" sz="1800">
                <a:solidFill>
                  <a:srgbClr val="375523"/>
                </a:solidFill>
                <a:latin typeface="Calibri"/>
                <a:ea typeface="Calibri"/>
                <a:cs typeface="Calibri"/>
                <a:sym typeface="Calibri"/>
              </a:defRPr>
            </a:lvl3pPr>
            <a:lvl4pPr indent="0" lvl="3" marL="77470">
              <a:lnSpc>
                <a:spcPct val="100555"/>
              </a:lnSpc>
              <a:spcBef>
                <a:spcPts val="0"/>
              </a:spcBef>
              <a:buNone/>
              <a:defRPr b="1" i="0" sz="1800">
                <a:solidFill>
                  <a:srgbClr val="375523"/>
                </a:solidFill>
                <a:latin typeface="Calibri"/>
                <a:ea typeface="Calibri"/>
                <a:cs typeface="Calibri"/>
                <a:sym typeface="Calibri"/>
              </a:defRPr>
            </a:lvl4pPr>
            <a:lvl5pPr indent="0" lvl="4" marL="77470">
              <a:lnSpc>
                <a:spcPct val="100555"/>
              </a:lnSpc>
              <a:spcBef>
                <a:spcPts val="0"/>
              </a:spcBef>
              <a:buNone/>
              <a:defRPr b="1" i="0" sz="1800">
                <a:solidFill>
                  <a:srgbClr val="375523"/>
                </a:solidFill>
                <a:latin typeface="Calibri"/>
                <a:ea typeface="Calibri"/>
                <a:cs typeface="Calibri"/>
                <a:sym typeface="Calibri"/>
              </a:defRPr>
            </a:lvl5pPr>
            <a:lvl6pPr indent="0" lvl="5" marL="77470">
              <a:lnSpc>
                <a:spcPct val="100555"/>
              </a:lnSpc>
              <a:spcBef>
                <a:spcPts val="0"/>
              </a:spcBef>
              <a:buNone/>
              <a:defRPr b="1" i="0" sz="1800">
                <a:solidFill>
                  <a:srgbClr val="375523"/>
                </a:solidFill>
                <a:latin typeface="Calibri"/>
                <a:ea typeface="Calibri"/>
                <a:cs typeface="Calibri"/>
                <a:sym typeface="Calibri"/>
              </a:defRPr>
            </a:lvl6pPr>
            <a:lvl7pPr indent="0" lvl="6" marL="77470">
              <a:lnSpc>
                <a:spcPct val="100555"/>
              </a:lnSpc>
              <a:spcBef>
                <a:spcPts val="0"/>
              </a:spcBef>
              <a:buNone/>
              <a:defRPr b="1" i="0" sz="1800">
                <a:solidFill>
                  <a:srgbClr val="375523"/>
                </a:solidFill>
                <a:latin typeface="Calibri"/>
                <a:ea typeface="Calibri"/>
                <a:cs typeface="Calibri"/>
                <a:sym typeface="Calibri"/>
              </a:defRPr>
            </a:lvl7pPr>
            <a:lvl8pPr indent="0" lvl="7" marL="77470">
              <a:lnSpc>
                <a:spcPct val="100555"/>
              </a:lnSpc>
              <a:spcBef>
                <a:spcPts val="0"/>
              </a:spcBef>
              <a:buNone/>
              <a:defRPr b="1" i="0" sz="1800">
                <a:solidFill>
                  <a:srgbClr val="375523"/>
                </a:solidFill>
                <a:latin typeface="Calibri"/>
                <a:ea typeface="Calibri"/>
                <a:cs typeface="Calibri"/>
                <a:sym typeface="Calibri"/>
              </a:defRPr>
            </a:lvl8pPr>
            <a:lvl9pPr indent="0" lvl="8" marL="77470">
              <a:lnSpc>
                <a:spcPct val="100555"/>
              </a:lnSpc>
              <a:spcBef>
                <a:spcPts val="0"/>
              </a:spcBef>
              <a:buNone/>
              <a:defRPr b="1" i="0" sz="1800">
                <a:solidFill>
                  <a:srgbClr val="375523"/>
                </a:solidFill>
                <a:latin typeface="Calibri"/>
                <a:ea typeface="Calibri"/>
                <a:cs typeface="Calibri"/>
                <a:sym typeface="Calibri"/>
              </a:defRPr>
            </a:lvl9pPr>
          </a:lstStyle>
          <a:p>
            <a:pPr indent="0" lvl="0" marL="77470" rtl="0" algn="l">
              <a:spcBef>
                <a:spcPts val="0"/>
              </a:spcBef>
              <a:spcAft>
                <a:spcPts val="0"/>
              </a:spcAft>
              <a:buNone/>
            </a:pPr>
            <a:fld id="{00000000-1234-1234-1234-123412341234}" type="slidenum">
              <a:rPr lang="en-US"/>
              <a:t>‹#›</a:t>
            </a:fld>
            <a:endParaRPr b="0">
              <a:solidFill>
                <a:srgbClr val="888888"/>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 name="Shape 27"/>
        <p:cNvGrpSpPr/>
        <p:nvPr/>
      </p:nvGrpSpPr>
      <p:grpSpPr>
        <a:xfrm>
          <a:off x="0" y="0"/>
          <a:ext cx="0" cy="0"/>
          <a:chOff x="0" y="0"/>
          <a:chExt cx="0" cy="0"/>
        </a:xfrm>
      </p:grpSpPr>
      <p:sp>
        <p:nvSpPr>
          <p:cNvPr id="28" name="Google Shape;28;p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0070C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0" type="dt"/>
          </p:nvPr>
        </p:nvSpPr>
        <p:spPr>
          <a:xfrm>
            <a:off x="911225" y="6435725"/>
            <a:ext cx="1090930" cy="2540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800">
                <a:solidFill>
                  <a:srgbClr val="37552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lvl1pPr indent="0" lvl="0" marL="77470">
              <a:lnSpc>
                <a:spcPct val="100555"/>
              </a:lnSpc>
              <a:spcBef>
                <a:spcPts val="0"/>
              </a:spcBef>
              <a:buNone/>
              <a:defRPr b="1" i="0" sz="1800">
                <a:solidFill>
                  <a:srgbClr val="375523"/>
                </a:solidFill>
                <a:latin typeface="Calibri"/>
                <a:ea typeface="Calibri"/>
                <a:cs typeface="Calibri"/>
                <a:sym typeface="Calibri"/>
              </a:defRPr>
            </a:lvl1pPr>
            <a:lvl2pPr indent="0" lvl="1" marL="77470">
              <a:lnSpc>
                <a:spcPct val="100555"/>
              </a:lnSpc>
              <a:spcBef>
                <a:spcPts val="0"/>
              </a:spcBef>
              <a:buNone/>
              <a:defRPr b="1" i="0" sz="1800">
                <a:solidFill>
                  <a:srgbClr val="375523"/>
                </a:solidFill>
                <a:latin typeface="Calibri"/>
                <a:ea typeface="Calibri"/>
                <a:cs typeface="Calibri"/>
                <a:sym typeface="Calibri"/>
              </a:defRPr>
            </a:lvl2pPr>
            <a:lvl3pPr indent="0" lvl="2" marL="77470">
              <a:lnSpc>
                <a:spcPct val="100555"/>
              </a:lnSpc>
              <a:spcBef>
                <a:spcPts val="0"/>
              </a:spcBef>
              <a:buNone/>
              <a:defRPr b="1" i="0" sz="1800">
                <a:solidFill>
                  <a:srgbClr val="375523"/>
                </a:solidFill>
                <a:latin typeface="Calibri"/>
                <a:ea typeface="Calibri"/>
                <a:cs typeface="Calibri"/>
                <a:sym typeface="Calibri"/>
              </a:defRPr>
            </a:lvl3pPr>
            <a:lvl4pPr indent="0" lvl="3" marL="77470">
              <a:lnSpc>
                <a:spcPct val="100555"/>
              </a:lnSpc>
              <a:spcBef>
                <a:spcPts val="0"/>
              </a:spcBef>
              <a:buNone/>
              <a:defRPr b="1" i="0" sz="1800">
                <a:solidFill>
                  <a:srgbClr val="375523"/>
                </a:solidFill>
                <a:latin typeface="Calibri"/>
                <a:ea typeface="Calibri"/>
                <a:cs typeface="Calibri"/>
                <a:sym typeface="Calibri"/>
              </a:defRPr>
            </a:lvl4pPr>
            <a:lvl5pPr indent="0" lvl="4" marL="77470">
              <a:lnSpc>
                <a:spcPct val="100555"/>
              </a:lnSpc>
              <a:spcBef>
                <a:spcPts val="0"/>
              </a:spcBef>
              <a:buNone/>
              <a:defRPr b="1" i="0" sz="1800">
                <a:solidFill>
                  <a:srgbClr val="375523"/>
                </a:solidFill>
                <a:latin typeface="Calibri"/>
                <a:ea typeface="Calibri"/>
                <a:cs typeface="Calibri"/>
                <a:sym typeface="Calibri"/>
              </a:defRPr>
            </a:lvl5pPr>
            <a:lvl6pPr indent="0" lvl="5" marL="77470">
              <a:lnSpc>
                <a:spcPct val="100555"/>
              </a:lnSpc>
              <a:spcBef>
                <a:spcPts val="0"/>
              </a:spcBef>
              <a:buNone/>
              <a:defRPr b="1" i="0" sz="1800">
                <a:solidFill>
                  <a:srgbClr val="375523"/>
                </a:solidFill>
                <a:latin typeface="Calibri"/>
                <a:ea typeface="Calibri"/>
                <a:cs typeface="Calibri"/>
                <a:sym typeface="Calibri"/>
              </a:defRPr>
            </a:lvl6pPr>
            <a:lvl7pPr indent="0" lvl="6" marL="77470">
              <a:lnSpc>
                <a:spcPct val="100555"/>
              </a:lnSpc>
              <a:spcBef>
                <a:spcPts val="0"/>
              </a:spcBef>
              <a:buNone/>
              <a:defRPr b="1" i="0" sz="1800">
                <a:solidFill>
                  <a:srgbClr val="375523"/>
                </a:solidFill>
                <a:latin typeface="Calibri"/>
                <a:ea typeface="Calibri"/>
                <a:cs typeface="Calibri"/>
                <a:sym typeface="Calibri"/>
              </a:defRPr>
            </a:lvl7pPr>
            <a:lvl8pPr indent="0" lvl="7" marL="77470">
              <a:lnSpc>
                <a:spcPct val="100555"/>
              </a:lnSpc>
              <a:spcBef>
                <a:spcPts val="0"/>
              </a:spcBef>
              <a:buNone/>
              <a:defRPr b="1" i="0" sz="1800">
                <a:solidFill>
                  <a:srgbClr val="375523"/>
                </a:solidFill>
                <a:latin typeface="Calibri"/>
                <a:ea typeface="Calibri"/>
                <a:cs typeface="Calibri"/>
                <a:sym typeface="Calibri"/>
              </a:defRPr>
            </a:lvl8pPr>
            <a:lvl9pPr indent="0" lvl="8" marL="77470">
              <a:lnSpc>
                <a:spcPct val="100555"/>
              </a:lnSpc>
              <a:spcBef>
                <a:spcPts val="0"/>
              </a:spcBef>
              <a:buNone/>
              <a:defRPr b="1" i="0" sz="1800">
                <a:solidFill>
                  <a:srgbClr val="375523"/>
                </a:solidFill>
                <a:latin typeface="Calibri"/>
                <a:ea typeface="Calibri"/>
                <a:cs typeface="Calibri"/>
                <a:sym typeface="Calibri"/>
              </a:defRPr>
            </a:lvl9pPr>
          </a:lstStyle>
          <a:p>
            <a:pPr indent="0" lvl="0" marL="77470" rtl="0" algn="l">
              <a:spcBef>
                <a:spcPts val="0"/>
              </a:spcBef>
              <a:spcAft>
                <a:spcPts val="0"/>
              </a:spcAft>
              <a:buNone/>
            </a:pPr>
            <a:fld id="{00000000-1234-1234-1234-123412341234}" type="slidenum">
              <a:rPr lang="en-US"/>
              <a:t>‹#›</a:t>
            </a:fld>
            <a:endParaRPr b="0">
              <a:solidFill>
                <a:srgbClr val="888888"/>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6"/>
          <p:cNvSpPr txBox="1"/>
          <p:nvPr>
            <p:ph type="title"/>
          </p:nvPr>
        </p:nvSpPr>
        <p:spPr>
          <a:xfrm>
            <a:off x="2284015" y="240908"/>
            <a:ext cx="7623968" cy="3911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0070C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6"/>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6"/>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0" type="dt"/>
          </p:nvPr>
        </p:nvSpPr>
        <p:spPr>
          <a:xfrm>
            <a:off x="911225" y="6435725"/>
            <a:ext cx="1090930" cy="2540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800">
                <a:solidFill>
                  <a:srgbClr val="37552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lvl1pPr indent="0" lvl="0" marL="77470">
              <a:lnSpc>
                <a:spcPct val="100555"/>
              </a:lnSpc>
              <a:spcBef>
                <a:spcPts val="0"/>
              </a:spcBef>
              <a:buNone/>
              <a:defRPr b="1" i="0" sz="1800">
                <a:solidFill>
                  <a:srgbClr val="375523"/>
                </a:solidFill>
                <a:latin typeface="Calibri"/>
                <a:ea typeface="Calibri"/>
                <a:cs typeface="Calibri"/>
                <a:sym typeface="Calibri"/>
              </a:defRPr>
            </a:lvl1pPr>
            <a:lvl2pPr indent="0" lvl="1" marL="77470">
              <a:lnSpc>
                <a:spcPct val="100555"/>
              </a:lnSpc>
              <a:spcBef>
                <a:spcPts val="0"/>
              </a:spcBef>
              <a:buNone/>
              <a:defRPr b="1" i="0" sz="1800">
                <a:solidFill>
                  <a:srgbClr val="375523"/>
                </a:solidFill>
                <a:latin typeface="Calibri"/>
                <a:ea typeface="Calibri"/>
                <a:cs typeface="Calibri"/>
                <a:sym typeface="Calibri"/>
              </a:defRPr>
            </a:lvl2pPr>
            <a:lvl3pPr indent="0" lvl="2" marL="77470">
              <a:lnSpc>
                <a:spcPct val="100555"/>
              </a:lnSpc>
              <a:spcBef>
                <a:spcPts val="0"/>
              </a:spcBef>
              <a:buNone/>
              <a:defRPr b="1" i="0" sz="1800">
                <a:solidFill>
                  <a:srgbClr val="375523"/>
                </a:solidFill>
                <a:latin typeface="Calibri"/>
                <a:ea typeface="Calibri"/>
                <a:cs typeface="Calibri"/>
                <a:sym typeface="Calibri"/>
              </a:defRPr>
            </a:lvl3pPr>
            <a:lvl4pPr indent="0" lvl="3" marL="77470">
              <a:lnSpc>
                <a:spcPct val="100555"/>
              </a:lnSpc>
              <a:spcBef>
                <a:spcPts val="0"/>
              </a:spcBef>
              <a:buNone/>
              <a:defRPr b="1" i="0" sz="1800">
                <a:solidFill>
                  <a:srgbClr val="375523"/>
                </a:solidFill>
                <a:latin typeface="Calibri"/>
                <a:ea typeface="Calibri"/>
                <a:cs typeface="Calibri"/>
                <a:sym typeface="Calibri"/>
              </a:defRPr>
            </a:lvl4pPr>
            <a:lvl5pPr indent="0" lvl="4" marL="77470">
              <a:lnSpc>
                <a:spcPct val="100555"/>
              </a:lnSpc>
              <a:spcBef>
                <a:spcPts val="0"/>
              </a:spcBef>
              <a:buNone/>
              <a:defRPr b="1" i="0" sz="1800">
                <a:solidFill>
                  <a:srgbClr val="375523"/>
                </a:solidFill>
                <a:latin typeface="Calibri"/>
                <a:ea typeface="Calibri"/>
                <a:cs typeface="Calibri"/>
                <a:sym typeface="Calibri"/>
              </a:defRPr>
            </a:lvl5pPr>
            <a:lvl6pPr indent="0" lvl="5" marL="77470">
              <a:lnSpc>
                <a:spcPct val="100555"/>
              </a:lnSpc>
              <a:spcBef>
                <a:spcPts val="0"/>
              </a:spcBef>
              <a:buNone/>
              <a:defRPr b="1" i="0" sz="1800">
                <a:solidFill>
                  <a:srgbClr val="375523"/>
                </a:solidFill>
                <a:latin typeface="Calibri"/>
                <a:ea typeface="Calibri"/>
                <a:cs typeface="Calibri"/>
                <a:sym typeface="Calibri"/>
              </a:defRPr>
            </a:lvl6pPr>
            <a:lvl7pPr indent="0" lvl="6" marL="77470">
              <a:lnSpc>
                <a:spcPct val="100555"/>
              </a:lnSpc>
              <a:spcBef>
                <a:spcPts val="0"/>
              </a:spcBef>
              <a:buNone/>
              <a:defRPr b="1" i="0" sz="1800">
                <a:solidFill>
                  <a:srgbClr val="375523"/>
                </a:solidFill>
                <a:latin typeface="Calibri"/>
                <a:ea typeface="Calibri"/>
                <a:cs typeface="Calibri"/>
                <a:sym typeface="Calibri"/>
              </a:defRPr>
            </a:lvl7pPr>
            <a:lvl8pPr indent="0" lvl="7" marL="77470">
              <a:lnSpc>
                <a:spcPct val="100555"/>
              </a:lnSpc>
              <a:spcBef>
                <a:spcPts val="0"/>
              </a:spcBef>
              <a:buNone/>
              <a:defRPr b="1" i="0" sz="1800">
                <a:solidFill>
                  <a:srgbClr val="375523"/>
                </a:solidFill>
                <a:latin typeface="Calibri"/>
                <a:ea typeface="Calibri"/>
                <a:cs typeface="Calibri"/>
                <a:sym typeface="Calibri"/>
              </a:defRPr>
            </a:lvl8pPr>
            <a:lvl9pPr indent="0" lvl="8" marL="77470">
              <a:lnSpc>
                <a:spcPct val="100555"/>
              </a:lnSpc>
              <a:spcBef>
                <a:spcPts val="0"/>
              </a:spcBef>
              <a:buNone/>
              <a:defRPr b="1" i="0" sz="1800">
                <a:solidFill>
                  <a:srgbClr val="375523"/>
                </a:solidFill>
                <a:latin typeface="Calibri"/>
                <a:ea typeface="Calibri"/>
                <a:cs typeface="Calibri"/>
                <a:sym typeface="Calibri"/>
              </a:defRPr>
            </a:lvl9pPr>
          </a:lstStyle>
          <a:p>
            <a:pPr indent="0" lvl="0" marL="77470" rtl="0" algn="l">
              <a:spcBef>
                <a:spcPts val="0"/>
              </a:spcBef>
              <a:spcAft>
                <a:spcPts val="0"/>
              </a:spcAft>
              <a:buNone/>
            </a:pPr>
            <a:fld id="{00000000-1234-1234-1234-123412341234}" type="slidenum">
              <a:rPr lang="en-US"/>
              <a:t>‹#›</a:t>
            </a:fld>
            <a:endParaRPr b="0">
              <a:solidFill>
                <a:srgbClr val="888888"/>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4015" y="240908"/>
            <a:ext cx="7623968" cy="39115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2400" u="none" cap="none" strike="noStrike">
                <a:solidFill>
                  <a:srgbClr val="0070C0"/>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793750" y="1638736"/>
            <a:ext cx="10200640" cy="42335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0" type="dt"/>
          </p:nvPr>
        </p:nvSpPr>
        <p:spPr>
          <a:xfrm>
            <a:off x="911225" y="6435725"/>
            <a:ext cx="1090930" cy="2540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800">
                <a:solidFill>
                  <a:srgbClr val="37552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lvl1pPr indent="0" lvl="0" marL="77470">
              <a:lnSpc>
                <a:spcPct val="100555"/>
              </a:lnSpc>
              <a:spcBef>
                <a:spcPts val="0"/>
              </a:spcBef>
              <a:buNone/>
              <a:defRPr b="1" i="0" sz="1800">
                <a:solidFill>
                  <a:srgbClr val="375523"/>
                </a:solidFill>
                <a:latin typeface="Calibri"/>
                <a:ea typeface="Calibri"/>
                <a:cs typeface="Calibri"/>
                <a:sym typeface="Calibri"/>
              </a:defRPr>
            </a:lvl1pPr>
            <a:lvl2pPr indent="0" lvl="1" marL="77470">
              <a:lnSpc>
                <a:spcPct val="100555"/>
              </a:lnSpc>
              <a:spcBef>
                <a:spcPts val="0"/>
              </a:spcBef>
              <a:buNone/>
              <a:defRPr b="1" i="0" sz="1800">
                <a:solidFill>
                  <a:srgbClr val="375523"/>
                </a:solidFill>
                <a:latin typeface="Calibri"/>
                <a:ea typeface="Calibri"/>
                <a:cs typeface="Calibri"/>
                <a:sym typeface="Calibri"/>
              </a:defRPr>
            </a:lvl2pPr>
            <a:lvl3pPr indent="0" lvl="2" marL="77470">
              <a:lnSpc>
                <a:spcPct val="100555"/>
              </a:lnSpc>
              <a:spcBef>
                <a:spcPts val="0"/>
              </a:spcBef>
              <a:buNone/>
              <a:defRPr b="1" i="0" sz="1800">
                <a:solidFill>
                  <a:srgbClr val="375523"/>
                </a:solidFill>
                <a:latin typeface="Calibri"/>
                <a:ea typeface="Calibri"/>
                <a:cs typeface="Calibri"/>
                <a:sym typeface="Calibri"/>
              </a:defRPr>
            </a:lvl3pPr>
            <a:lvl4pPr indent="0" lvl="3" marL="77470">
              <a:lnSpc>
                <a:spcPct val="100555"/>
              </a:lnSpc>
              <a:spcBef>
                <a:spcPts val="0"/>
              </a:spcBef>
              <a:buNone/>
              <a:defRPr b="1" i="0" sz="1800">
                <a:solidFill>
                  <a:srgbClr val="375523"/>
                </a:solidFill>
                <a:latin typeface="Calibri"/>
                <a:ea typeface="Calibri"/>
                <a:cs typeface="Calibri"/>
                <a:sym typeface="Calibri"/>
              </a:defRPr>
            </a:lvl4pPr>
            <a:lvl5pPr indent="0" lvl="4" marL="77470">
              <a:lnSpc>
                <a:spcPct val="100555"/>
              </a:lnSpc>
              <a:spcBef>
                <a:spcPts val="0"/>
              </a:spcBef>
              <a:buNone/>
              <a:defRPr b="1" i="0" sz="1800">
                <a:solidFill>
                  <a:srgbClr val="375523"/>
                </a:solidFill>
                <a:latin typeface="Calibri"/>
                <a:ea typeface="Calibri"/>
                <a:cs typeface="Calibri"/>
                <a:sym typeface="Calibri"/>
              </a:defRPr>
            </a:lvl5pPr>
            <a:lvl6pPr indent="0" lvl="5" marL="77470">
              <a:lnSpc>
                <a:spcPct val="100555"/>
              </a:lnSpc>
              <a:spcBef>
                <a:spcPts val="0"/>
              </a:spcBef>
              <a:buNone/>
              <a:defRPr b="1" i="0" sz="1800">
                <a:solidFill>
                  <a:srgbClr val="375523"/>
                </a:solidFill>
                <a:latin typeface="Calibri"/>
                <a:ea typeface="Calibri"/>
                <a:cs typeface="Calibri"/>
                <a:sym typeface="Calibri"/>
              </a:defRPr>
            </a:lvl6pPr>
            <a:lvl7pPr indent="0" lvl="6" marL="77470">
              <a:lnSpc>
                <a:spcPct val="100555"/>
              </a:lnSpc>
              <a:spcBef>
                <a:spcPts val="0"/>
              </a:spcBef>
              <a:buNone/>
              <a:defRPr b="1" i="0" sz="1800">
                <a:solidFill>
                  <a:srgbClr val="375523"/>
                </a:solidFill>
                <a:latin typeface="Calibri"/>
                <a:ea typeface="Calibri"/>
                <a:cs typeface="Calibri"/>
                <a:sym typeface="Calibri"/>
              </a:defRPr>
            </a:lvl7pPr>
            <a:lvl8pPr indent="0" lvl="7" marL="77470">
              <a:lnSpc>
                <a:spcPct val="100555"/>
              </a:lnSpc>
              <a:spcBef>
                <a:spcPts val="0"/>
              </a:spcBef>
              <a:buNone/>
              <a:defRPr b="1" i="0" sz="1800">
                <a:solidFill>
                  <a:srgbClr val="375523"/>
                </a:solidFill>
                <a:latin typeface="Calibri"/>
                <a:ea typeface="Calibri"/>
                <a:cs typeface="Calibri"/>
                <a:sym typeface="Calibri"/>
              </a:defRPr>
            </a:lvl8pPr>
            <a:lvl9pPr indent="0" lvl="8" marL="77470">
              <a:lnSpc>
                <a:spcPct val="100555"/>
              </a:lnSpc>
              <a:spcBef>
                <a:spcPts val="0"/>
              </a:spcBef>
              <a:buNone/>
              <a:defRPr b="1" i="0" sz="1800">
                <a:solidFill>
                  <a:srgbClr val="375523"/>
                </a:solidFill>
                <a:latin typeface="Calibri"/>
                <a:ea typeface="Calibri"/>
                <a:cs typeface="Calibri"/>
                <a:sym typeface="Calibri"/>
              </a:defRPr>
            </a:lvl9pPr>
          </a:lstStyle>
          <a:p>
            <a:pPr indent="0" lvl="0" marL="77470" rtl="0" algn="l">
              <a:spcBef>
                <a:spcPts val="0"/>
              </a:spcBef>
              <a:spcAft>
                <a:spcPts val="0"/>
              </a:spcAft>
              <a:buNone/>
            </a:pPr>
            <a:fld id="{00000000-1234-1234-1234-123412341234}" type="slidenum">
              <a:rPr lang="en-US"/>
              <a:t>‹#›</a:t>
            </a:fld>
            <a:endParaRPr b="0">
              <a:solidFill>
                <a:srgbClr val="888888"/>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 name="Shape 43"/>
        <p:cNvGrpSpPr/>
        <p:nvPr/>
      </p:nvGrpSpPr>
      <p:grpSpPr>
        <a:xfrm>
          <a:off x="0" y="0"/>
          <a:ext cx="0" cy="0"/>
          <a:chOff x="0" y="0"/>
          <a:chExt cx="0" cy="0"/>
        </a:xfrm>
      </p:grpSpPr>
      <p:sp>
        <p:nvSpPr>
          <p:cNvPr id="44" name="Google Shape;44;p7"/>
          <p:cNvSpPr txBox="1"/>
          <p:nvPr/>
        </p:nvSpPr>
        <p:spPr>
          <a:xfrm>
            <a:off x="1975731" y="1203440"/>
            <a:ext cx="8864700" cy="1975800"/>
          </a:xfrm>
          <a:prstGeom prst="rect">
            <a:avLst/>
          </a:prstGeom>
          <a:noFill/>
          <a:ln>
            <a:noFill/>
          </a:ln>
        </p:spPr>
        <p:txBody>
          <a:bodyPr anchorCtr="0" anchor="t" bIns="0" lIns="0" spcFirstLastPara="1" rIns="0" wrap="square" tIns="12700">
            <a:spAutoFit/>
          </a:bodyPr>
          <a:lstStyle/>
          <a:p>
            <a:pPr indent="0" lvl="0" marL="3145155" marR="3137535" rtl="0" algn="ctr">
              <a:lnSpc>
                <a:spcPct val="117300"/>
              </a:lnSpc>
              <a:spcBef>
                <a:spcPts val="0"/>
              </a:spcBef>
              <a:spcAft>
                <a:spcPts val="0"/>
              </a:spcAft>
              <a:buNone/>
            </a:pPr>
            <a:r>
              <a:rPr b="1" lang="en-US" sz="1800">
                <a:latin typeface="Cambria"/>
                <a:ea typeface="Cambria"/>
                <a:cs typeface="Cambria"/>
                <a:sym typeface="Cambria"/>
              </a:rPr>
              <a:t>Academic Year 2025</a:t>
            </a:r>
            <a:r>
              <a:rPr b="1" lang="en-US" sz="1800">
                <a:latin typeface="Cambria"/>
                <a:ea typeface="Cambria"/>
                <a:cs typeface="Cambria"/>
                <a:sym typeface="Cambria"/>
              </a:rPr>
              <a:t>- </a:t>
            </a:r>
            <a:r>
              <a:rPr b="1" lang="en-US" sz="1800">
                <a:latin typeface="Cambria"/>
                <a:ea typeface="Cambria"/>
                <a:cs typeface="Cambria"/>
                <a:sym typeface="Cambria"/>
              </a:rPr>
              <a:t>26</a:t>
            </a:r>
            <a:r>
              <a:rPr b="1" lang="en-US" sz="1800">
                <a:latin typeface="Cambria"/>
                <a:ea typeface="Cambria"/>
                <a:cs typeface="Cambria"/>
                <a:sym typeface="Cambria"/>
              </a:rPr>
              <a:t> </a:t>
            </a:r>
            <a:r>
              <a:rPr b="1" lang="en-US" sz="1800">
                <a:solidFill>
                  <a:srgbClr val="C00000"/>
                </a:solidFill>
                <a:latin typeface="Cambria"/>
                <a:ea typeface="Cambria"/>
                <a:cs typeface="Cambria"/>
                <a:sym typeface="Cambria"/>
              </a:rPr>
              <a:t>S6 MINI PROJECT - I</a:t>
            </a:r>
            <a:endParaRPr sz="1800">
              <a:latin typeface="Cambria"/>
              <a:ea typeface="Cambria"/>
              <a:cs typeface="Cambria"/>
              <a:sym typeface="Cambria"/>
            </a:endParaRPr>
          </a:p>
          <a:p>
            <a:pPr indent="0" lvl="0" marL="0" rtl="0" algn="ctr">
              <a:lnSpc>
                <a:spcPct val="100000"/>
              </a:lnSpc>
              <a:spcBef>
                <a:spcPts val="0"/>
              </a:spcBef>
              <a:spcAft>
                <a:spcPts val="0"/>
              </a:spcAft>
              <a:buNone/>
            </a:pPr>
            <a:r>
              <a:rPr b="1" lang="en-US" sz="1800">
                <a:latin typeface="Cambria"/>
                <a:ea typeface="Cambria"/>
                <a:cs typeface="Cambria"/>
                <a:sym typeface="Cambria"/>
              </a:rPr>
              <a:t>First Review</a:t>
            </a:r>
            <a:endParaRPr sz="1800">
              <a:latin typeface="Cambria"/>
              <a:ea typeface="Cambria"/>
              <a:cs typeface="Cambria"/>
              <a:sym typeface="Cambria"/>
            </a:endParaRPr>
          </a:p>
          <a:p>
            <a:pPr indent="0" lvl="0" marL="0" rtl="0" algn="ctr">
              <a:lnSpc>
                <a:spcPct val="100000"/>
              </a:lnSpc>
              <a:spcBef>
                <a:spcPts val="885"/>
              </a:spcBef>
              <a:spcAft>
                <a:spcPts val="0"/>
              </a:spcAft>
              <a:buNone/>
            </a:pPr>
            <a:r>
              <a:rPr b="1" lang="en-US" sz="2400">
                <a:solidFill>
                  <a:srgbClr val="375523"/>
                </a:solidFill>
                <a:latin typeface="Cambria"/>
                <a:ea typeface="Cambria"/>
                <a:cs typeface="Cambria"/>
                <a:sym typeface="Cambria"/>
              </a:rPr>
              <a:t>PROJECT TITLE</a:t>
            </a:r>
            <a:endParaRPr sz="2400">
              <a:latin typeface="Cambria"/>
              <a:ea typeface="Cambria"/>
              <a:cs typeface="Cambria"/>
              <a:sym typeface="Cambria"/>
            </a:endParaRPr>
          </a:p>
          <a:p>
            <a:pPr indent="0" lvl="0" marL="0" rtl="0" algn="ctr">
              <a:lnSpc>
                <a:spcPct val="113958"/>
              </a:lnSpc>
              <a:spcBef>
                <a:spcPts val="710"/>
              </a:spcBef>
              <a:spcAft>
                <a:spcPts val="0"/>
              </a:spcAft>
              <a:buNone/>
            </a:pPr>
            <a:r>
              <a:rPr b="1" lang="en-US" sz="3000">
                <a:solidFill>
                  <a:srgbClr val="002060"/>
                </a:solidFill>
                <a:latin typeface="Times New Roman"/>
                <a:ea typeface="Times New Roman"/>
                <a:cs typeface="Times New Roman"/>
                <a:sym typeface="Times New Roman"/>
              </a:rPr>
              <a:t>Smart Resume Matcher</a:t>
            </a:r>
            <a:endParaRPr sz="3000">
              <a:latin typeface="Times New Roman"/>
              <a:ea typeface="Times New Roman"/>
              <a:cs typeface="Times New Roman"/>
              <a:sym typeface="Times New Roman"/>
            </a:endParaRPr>
          </a:p>
        </p:txBody>
      </p:sp>
      <p:pic>
        <p:nvPicPr>
          <p:cNvPr id="45" name="Google Shape;45;p7"/>
          <p:cNvPicPr preferRelativeResize="0"/>
          <p:nvPr/>
        </p:nvPicPr>
        <p:blipFill rotWithShape="1">
          <a:blip r:embed="rId3">
            <a:alphaModFix/>
          </a:blip>
          <a:srcRect b="0" l="0" r="0" t="0"/>
          <a:stretch/>
        </p:blipFill>
        <p:spPr>
          <a:xfrm>
            <a:off x="2389838" y="145402"/>
            <a:ext cx="7378425" cy="1045663"/>
          </a:xfrm>
          <a:prstGeom prst="rect">
            <a:avLst/>
          </a:prstGeom>
          <a:noFill/>
          <a:ln>
            <a:noFill/>
          </a:ln>
        </p:spPr>
      </p:pic>
      <p:sp>
        <p:nvSpPr>
          <p:cNvPr id="46" name="Google Shape;46;p7"/>
          <p:cNvSpPr txBox="1"/>
          <p:nvPr/>
        </p:nvSpPr>
        <p:spPr>
          <a:xfrm>
            <a:off x="747000" y="5068300"/>
            <a:ext cx="4552500" cy="667800"/>
          </a:xfrm>
          <a:prstGeom prst="rect">
            <a:avLst/>
          </a:prstGeom>
          <a:noFill/>
          <a:ln>
            <a:noFill/>
          </a:ln>
        </p:spPr>
        <p:txBody>
          <a:bodyPr anchorCtr="0" anchor="t" bIns="0" lIns="0" spcFirstLastPara="1" rIns="0" wrap="square" tIns="12700">
            <a:spAutoFit/>
          </a:bodyPr>
          <a:lstStyle/>
          <a:p>
            <a:pPr indent="0" lvl="0" marL="12065" marR="5080" rtl="0" algn="ctr">
              <a:lnSpc>
                <a:spcPct val="130000"/>
              </a:lnSpc>
              <a:spcBef>
                <a:spcPts val="0"/>
              </a:spcBef>
              <a:spcAft>
                <a:spcPts val="0"/>
              </a:spcAft>
              <a:buNone/>
            </a:pPr>
            <a:r>
              <a:rPr b="1" lang="en-US" sz="1850">
                <a:solidFill>
                  <a:srgbClr val="375523"/>
                </a:solidFill>
                <a:latin typeface="Cambria"/>
                <a:ea typeface="Cambria"/>
                <a:cs typeface="Cambria"/>
                <a:sym typeface="Cambria"/>
              </a:rPr>
              <a:t>BATCH MEMBERS</a:t>
            </a:r>
            <a:endParaRPr b="1" sz="1850">
              <a:solidFill>
                <a:srgbClr val="375523"/>
              </a:solidFill>
              <a:latin typeface="Cambria"/>
              <a:ea typeface="Cambria"/>
              <a:cs typeface="Cambria"/>
              <a:sym typeface="Cambria"/>
            </a:endParaRPr>
          </a:p>
          <a:p>
            <a:pPr indent="0" lvl="0" marL="12065" marR="5080" rtl="0" algn="ctr">
              <a:lnSpc>
                <a:spcPct val="130000"/>
              </a:lnSpc>
              <a:spcBef>
                <a:spcPts val="0"/>
              </a:spcBef>
              <a:spcAft>
                <a:spcPts val="0"/>
              </a:spcAft>
              <a:buNone/>
            </a:pPr>
            <a:r>
              <a:rPr b="1" lang="en-US" sz="1850">
                <a:solidFill>
                  <a:srgbClr val="375523"/>
                </a:solidFill>
                <a:latin typeface="Cambria"/>
                <a:ea typeface="Cambria"/>
                <a:cs typeface="Cambria"/>
                <a:sym typeface="Cambria"/>
              </a:rPr>
              <a:t> </a:t>
            </a:r>
            <a:r>
              <a:rPr b="1" lang="en-US" sz="1650">
                <a:solidFill>
                  <a:srgbClr val="7030A0"/>
                </a:solidFill>
                <a:latin typeface="Cambria"/>
                <a:ea typeface="Cambria"/>
                <a:cs typeface="Cambria"/>
                <a:sym typeface="Cambria"/>
              </a:rPr>
              <a:t>Stanzin Pasang</a:t>
            </a:r>
            <a:r>
              <a:rPr b="1" lang="en-US" sz="1650">
                <a:solidFill>
                  <a:srgbClr val="7030A0"/>
                </a:solidFill>
                <a:latin typeface="Cambria"/>
                <a:ea typeface="Cambria"/>
                <a:cs typeface="Cambria"/>
                <a:sym typeface="Cambria"/>
              </a:rPr>
              <a:t>(7376231CS320) </a:t>
            </a:r>
            <a:endParaRPr sz="1650">
              <a:latin typeface="Cambria"/>
              <a:ea typeface="Cambria"/>
              <a:cs typeface="Cambria"/>
              <a:sym typeface="Cambria"/>
            </a:endParaRPr>
          </a:p>
        </p:txBody>
      </p:sp>
      <p:sp>
        <p:nvSpPr>
          <p:cNvPr id="47" name="Google Shape;47;p7"/>
          <p:cNvSpPr txBox="1"/>
          <p:nvPr/>
        </p:nvSpPr>
        <p:spPr>
          <a:xfrm>
            <a:off x="6203175" y="4867050"/>
            <a:ext cx="6254100" cy="1347000"/>
          </a:xfrm>
          <a:prstGeom prst="rect">
            <a:avLst/>
          </a:prstGeom>
          <a:noFill/>
          <a:ln>
            <a:noFill/>
          </a:ln>
        </p:spPr>
        <p:txBody>
          <a:bodyPr anchorCtr="0" anchor="t" bIns="0" lIns="0" spcFirstLastPara="1" rIns="0" wrap="square" tIns="60325">
            <a:spAutoFit/>
          </a:bodyPr>
          <a:lstStyle/>
          <a:p>
            <a:pPr indent="0" lvl="0" marL="0" rtl="0" algn="ctr">
              <a:lnSpc>
                <a:spcPct val="100000"/>
              </a:lnSpc>
              <a:spcBef>
                <a:spcPts val="0"/>
              </a:spcBef>
              <a:spcAft>
                <a:spcPts val="0"/>
              </a:spcAft>
              <a:buNone/>
            </a:pPr>
            <a:r>
              <a:rPr b="1" lang="en-US" sz="2000">
                <a:solidFill>
                  <a:srgbClr val="375523"/>
                </a:solidFill>
                <a:latin typeface="Cambria"/>
                <a:ea typeface="Cambria"/>
                <a:cs typeface="Cambria"/>
                <a:sym typeface="Cambria"/>
              </a:rPr>
              <a:t>GUIDE</a:t>
            </a:r>
            <a:endParaRPr b="1" sz="2000">
              <a:solidFill>
                <a:srgbClr val="375523"/>
              </a:solidFill>
              <a:latin typeface="Cambria"/>
              <a:ea typeface="Cambria"/>
              <a:cs typeface="Cambria"/>
              <a:sym typeface="Cambria"/>
            </a:endParaRPr>
          </a:p>
          <a:p>
            <a:pPr indent="0" lvl="0" marL="0" rtl="0" algn="ctr">
              <a:lnSpc>
                <a:spcPct val="100000"/>
              </a:lnSpc>
              <a:spcBef>
                <a:spcPts val="0"/>
              </a:spcBef>
              <a:spcAft>
                <a:spcPts val="0"/>
              </a:spcAft>
              <a:buNone/>
            </a:pPr>
            <a:r>
              <a:rPr b="1" lang="en-US" sz="2000">
                <a:solidFill>
                  <a:srgbClr val="7030A0"/>
                </a:solidFill>
                <a:latin typeface="Cambria"/>
                <a:ea typeface="Cambria"/>
                <a:cs typeface="Cambria"/>
                <a:sym typeface="Cambria"/>
              </a:rPr>
              <a:t>Dr Sasikala D</a:t>
            </a:r>
            <a:endParaRPr b="1" sz="2000">
              <a:solidFill>
                <a:srgbClr val="7030A0"/>
              </a:solidFill>
              <a:latin typeface="Cambria"/>
              <a:ea typeface="Cambria"/>
              <a:cs typeface="Cambria"/>
              <a:sym typeface="Cambria"/>
            </a:endParaRPr>
          </a:p>
          <a:p>
            <a:pPr indent="1020443" lvl="0" marL="12700" marR="5080" rtl="0" algn="l">
              <a:lnSpc>
                <a:spcPct val="117800"/>
              </a:lnSpc>
              <a:spcBef>
                <a:spcPts val="0"/>
              </a:spcBef>
              <a:spcAft>
                <a:spcPts val="0"/>
              </a:spcAft>
              <a:buNone/>
            </a:pPr>
            <a:r>
              <a:rPr b="1" lang="en-US" sz="2000">
                <a:solidFill>
                  <a:srgbClr val="7030A0"/>
                </a:solidFill>
                <a:latin typeface="Cambria"/>
                <a:ea typeface="Cambria"/>
                <a:cs typeface="Cambria"/>
                <a:sym typeface="Cambria"/>
              </a:rPr>
              <a:t>                 Professor &amp; Head</a:t>
            </a:r>
            <a:endParaRPr b="1" sz="2000">
              <a:solidFill>
                <a:srgbClr val="7030A0"/>
              </a:solidFill>
              <a:latin typeface="Cambria"/>
              <a:ea typeface="Cambria"/>
              <a:cs typeface="Cambria"/>
              <a:sym typeface="Cambria"/>
            </a:endParaRPr>
          </a:p>
          <a:p>
            <a:pPr indent="0" lvl="0" marL="12700" marR="5080" rtl="0" algn="l">
              <a:lnSpc>
                <a:spcPct val="117800"/>
              </a:lnSpc>
              <a:spcBef>
                <a:spcPts val="0"/>
              </a:spcBef>
              <a:spcAft>
                <a:spcPts val="0"/>
              </a:spcAft>
              <a:buNone/>
            </a:pPr>
            <a:r>
              <a:rPr b="1" lang="en-US" sz="2000">
                <a:solidFill>
                  <a:srgbClr val="7030A0"/>
                </a:solidFill>
                <a:latin typeface="Cambria"/>
                <a:ea typeface="Cambria"/>
                <a:cs typeface="Cambria"/>
                <a:sym typeface="Cambria"/>
              </a:rPr>
              <a:t>Department of Computer Science And Engineering</a:t>
            </a:r>
            <a:endParaRPr sz="2000">
              <a:latin typeface="Cambria"/>
              <a:ea typeface="Cambria"/>
              <a:cs typeface="Cambria"/>
              <a:sym typeface="Cambria"/>
            </a:endParaRPr>
          </a:p>
        </p:txBody>
      </p:sp>
      <p:sp>
        <p:nvSpPr>
          <p:cNvPr id="48" name="Google Shape;48;p7"/>
          <p:cNvSpPr txBox="1"/>
          <p:nvPr/>
        </p:nvSpPr>
        <p:spPr>
          <a:xfrm>
            <a:off x="2081721" y="4010426"/>
            <a:ext cx="1665600" cy="567000"/>
          </a:xfrm>
          <a:prstGeom prst="rect">
            <a:avLst/>
          </a:prstGeom>
          <a:noFill/>
          <a:ln>
            <a:noFill/>
          </a:ln>
        </p:spPr>
        <p:txBody>
          <a:bodyPr anchorCtr="0" anchor="t" bIns="0" lIns="0" spcFirstLastPara="1" rIns="0" wrap="square" tIns="12700">
            <a:spAutoFit/>
          </a:bodyPr>
          <a:lstStyle/>
          <a:p>
            <a:pPr indent="-141605" lvl="0" marL="153670" marR="5080" rtl="0" algn="l">
              <a:lnSpc>
                <a:spcPct val="100000"/>
              </a:lnSpc>
              <a:spcBef>
                <a:spcPts val="0"/>
              </a:spcBef>
              <a:spcAft>
                <a:spcPts val="0"/>
              </a:spcAft>
              <a:buNone/>
            </a:pPr>
            <a:r>
              <a:rPr b="1" lang="en-US" sz="1800">
                <a:solidFill>
                  <a:srgbClr val="2F5496"/>
                </a:solidFill>
                <a:latin typeface="Cambria"/>
                <a:ea typeface="Cambria"/>
                <a:cs typeface="Cambria"/>
                <a:sym typeface="Cambria"/>
              </a:rPr>
              <a:t>BIP PROJECT ID </a:t>
            </a:r>
            <a:r>
              <a:rPr b="1" lang="en-US" sz="1800">
                <a:latin typeface="Cambria"/>
                <a:ea typeface="Cambria"/>
                <a:cs typeface="Cambria"/>
                <a:sym typeface="Cambria"/>
              </a:rPr>
              <a:t>2026MIN198</a:t>
            </a:r>
            <a:endParaRPr sz="1800">
              <a:latin typeface="Cambria"/>
              <a:ea typeface="Cambria"/>
              <a:cs typeface="Cambria"/>
              <a:sym typeface="Cambria"/>
            </a:endParaRPr>
          </a:p>
        </p:txBody>
      </p:sp>
      <p:sp>
        <p:nvSpPr>
          <p:cNvPr id="49" name="Google Shape;49;p7"/>
          <p:cNvSpPr txBox="1"/>
          <p:nvPr/>
        </p:nvSpPr>
        <p:spPr>
          <a:xfrm>
            <a:off x="8682233" y="3888729"/>
            <a:ext cx="1296000" cy="567000"/>
          </a:xfrm>
          <a:prstGeom prst="rect">
            <a:avLst/>
          </a:prstGeom>
          <a:noFill/>
          <a:ln>
            <a:noFill/>
          </a:ln>
        </p:spPr>
        <p:txBody>
          <a:bodyPr anchorCtr="0" anchor="t" bIns="0" lIns="0" spcFirstLastPara="1" rIns="0" wrap="square" tIns="12700">
            <a:spAutoFit/>
          </a:bodyPr>
          <a:lstStyle/>
          <a:p>
            <a:pPr indent="-90805" lvl="0" marL="102870" marR="5080" rtl="0" algn="l">
              <a:lnSpc>
                <a:spcPct val="100000"/>
              </a:lnSpc>
              <a:spcBef>
                <a:spcPts val="0"/>
              </a:spcBef>
              <a:spcAft>
                <a:spcPts val="0"/>
              </a:spcAft>
              <a:buNone/>
            </a:pPr>
            <a:r>
              <a:rPr b="1" lang="en-US" sz="1800">
                <a:solidFill>
                  <a:srgbClr val="2F5496"/>
                </a:solidFill>
                <a:latin typeface="Cambria"/>
                <a:ea typeface="Cambria"/>
                <a:cs typeface="Cambria"/>
                <a:sym typeface="Cambria"/>
              </a:rPr>
              <a:t>CATERGORY </a:t>
            </a:r>
            <a:r>
              <a:rPr b="1" lang="en-US" sz="1800">
                <a:solidFill>
                  <a:srgbClr val="C00000"/>
                </a:solidFill>
                <a:latin typeface="Cambria"/>
                <a:ea typeface="Cambria"/>
                <a:cs typeface="Cambria"/>
                <a:sym typeface="Cambria"/>
              </a:rPr>
              <a:t>INTERNAL</a:t>
            </a:r>
            <a:endParaRPr sz="1800">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 name="Shape 53"/>
        <p:cNvGrpSpPr/>
        <p:nvPr/>
      </p:nvGrpSpPr>
      <p:grpSpPr>
        <a:xfrm>
          <a:off x="0" y="0"/>
          <a:ext cx="0" cy="0"/>
          <a:chOff x="0" y="0"/>
          <a:chExt cx="0" cy="0"/>
        </a:xfrm>
      </p:grpSpPr>
      <p:sp>
        <p:nvSpPr>
          <p:cNvPr id="54" name="Google Shape;54;p8"/>
          <p:cNvSpPr/>
          <p:nvPr/>
        </p:nvSpPr>
        <p:spPr>
          <a:xfrm>
            <a:off x="766400" y="983673"/>
            <a:ext cx="10515600" cy="5193665"/>
          </a:xfrm>
          <a:custGeom>
            <a:rect b="b" l="l" r="r" t="t"/>
            <a:pathLst>
              <a:path extrusionOk="0" h="5193665" w="10515600">
                <a:moveTo>
                  <a:pt x="0" y="0"/>
                </a:moveTo>
                <a:lnTo>
                  <a:pt x="10515599" y="0"/>
                </a:lnTo>
                <a:lnTo>
                  <a:pt x="10515599" y="5193289"/>
                </a:lnTo>
                <a:lnTo>
                  <a:pt x="0" y="5193289"/>
                </a:lnTo>
                <a:lnTo>
                  <a:pt x="0" y="0"/>
                </a:lnTo>
                <a:close/>
              </a:path>
            </a:pathLst>
          </a:custGeom>
          <a:solidFill>
            <a:schemeClr val="lt1"/>
          </a:solidFill>
          <a:ln cap="flat" cmpd="sng" w="9525">
            <a:solidFill>
              <a:schemeClr val="accent5"/>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2400"/>
              <a:t>Aim:</a:t>
            </a:r>
            <a:endParaRPr b="1" sz="2400"/>
          </a:p>
          <a:p>
            <a:pPr indent="0" lvl="0" marL="0" rtl="0" algn="l">
              <a:spcBef>
                <a:spcPts val="0"/>
              </a:spcBef>
              <a:spcAft>
                <a:spcPts val="0"/>
              </a:spcAft>
              <a:buClr>
                <a:schemeClr val="dk1"/>
              </a:buClr>
              <a:buSzPts val="1100"/>
              <a:buFont typeface="Arial"/>
              <a:buNone/>
            </a:pPr>
            <a:r>
              <a:rPr lang="en-US" sz="2000"/>
              <a:t>To develop an intelligent, automated resume screening system that leverages Natural Language Processing (NLP) and Machine Learning algorithms to efficiently match candidate resumes with job descriptions, reducing manual screening time and minimizing unconscious bias in the recruitment process.</a:t>
            </a:r>
            <a:endParaRPr sz="2000"/>
          </a:p>
          <a:p>
            <a:pPr indent="0" lvl="0" marL="0" rtl="0" algn="l">
              <a:spcBef>
                <a:spcPts val="0"/>
              </a:spcBef>
              <a:spcAft>
                <a:spcPts val="0"/>
              </a:spcAft>
              <a:buClr>
                <a:schemeClr val="dk1"/>
              </a:buClr>
              <a:buSzPts val="1100"/>
              <a:buFont typeface="Arial"/>
              <a:buNone/>
            </a:pPr>
            <a:r>
              <a:rPr b="1" lang="en-US" sz="2400"/>
              <a:t>Objectives:</a:t>
            </a:r>
            <a:endParaRPr b="1" sz="2400"/>
          </a:p>
          <a:p>
            <a:pPr indent="-355600" lvl="0" marL="457200" rtl="0" algn="l">
              <a:spcBef>
                <a:spcPts val="0"/>
              </a:spcBef>
              <a:spcAft>
                <a:spcPts val="0"/>
              </a:spcAft>
              <a:buSzPts val="2000"/>
              <a:buAutoNum type="arabicPeriod"/>
            </a:pPr>
            <a:r>
              <a:rPr lang="en-US" sz="2000"/>
              <a:t>Automate Resume Parsing: Extract structured information from PDF resumes using PyPDF2 and NLP techniques</a:t>
            </a:r>
            <a:endParaRPr sz="2000"/>
          </a:p>
          <a:p>
            <a:pPr indent="-355600" lvl="0" marL="457200" rtl="0" algn="l">
              <a:spcBef>
                <a:spcPts val="0"/>
              </a:spcBef>
              <a:spcAft>
                <a:spcPts val="0"/>
              </a:spcAft>
              <a:buSzPts val="2000"/>
              <a:buAutoNum type="arabicPeriod"/>
            </a:pPr>
            <a:r>
              <a:rPr lang="en-US" sz="2000"/>
              <a:t>Implement Intelligent Matching: Develop TF-IDF vectorization and Cosine Similarity algorithms for quantitative resume-job matching</a:t>
            </a:r>
            <a:endParaRPr sz="2000"/>
          </a:p>
          <a:p>
            <a:pPr indent="-355600" lvl="0" marL="457200" rtl="0" algn="l">
              <a:spcBef>
                <a:spcPts val="0"/>
              </a:spcBef>
              <a:spcAft>
                <a:spcPts val="0"/>
              </a:spcAft>
              <a:buSzPts val="2000"/>
              <a:buAutoNum type="arabicPeriod"/>
            </a:pPr>
            <a:r>
              <a:rPr lang="en-US" sz="2000"/>
              <a:t>Enable Semantic Analysis: Integrate Large Language Models (Llama 3.1 via Groq API) for qualitative candidate evaluation</a:t>
            </a:r>
            <a:endParaRPr sz="2000"/>
          </a:p>
          <a:p>
            <a:pPr indent="-355600" lvl="0" marL="457200" rtl="0" algn="l">
              <a:spcBef>
                <a:spcPts val="0"/>
              </a:spcBef>
              <a:spcAft>
                <a:spcPts val="0"/>
              </a:spcAft>
              <a:buSzPts val="2000"/>
              <a:buAutoNum type="arabicPeriod"/>
            </a:pPr>
            <a:r>
              <a:rPr lang="en-US" sz="2000"/>
              <a:t>Ensure Fairness: Implement bias detection mechanisms to identify gendered language and discriminatory indicators</a:t>
            </a:r>
            <a:endParaRPr sz="2000"/>
          </a:p>
          <a:p>
            <a:pPr indent="-355600" lvl="0" marL="457200" rtl="0" algn="l">
              <a:spcBef>
                <a:spcPts val="0"/>
              </a:spcBef>
              <a:spcAft>
                <a:spcPts val="0"/>
              </a:spcAft>
              <a:buSzPts val="2000"/>
              <a:buAutoNum type="arabicPeriod"/>
            </a:pPr>
            <a:r>
              <a:rPr lang="en-US" sz="2000"/>
              <a:t>Provide Visual Analytics: Create interactive dashboards with radar charts, skill mapping, and executive reporting</a:t>
            </a:r>
            <a:endParaRPr sz="2000"/>
          </a:p>
          <a:p>
            <a:pPr indent="0" lvl="0" marL="0" rtl="0" algn="l">
              <a:spcBef>
                <a:spcPts val="0"/>
              </a:spcBef>
              <a:spcAft>
                <a:spcPts val="0"/>
              </a:spcAft>
              <a:buNone/>
            </a:pPr>
            <a:r>
              <a:t/>
            </a:r>
            <a:endParaRPr/>
          </a:p>
        </p:txBody>
      </p:sp>
      <p:sp>
        <p:nvSpPr>
          <p:cNvPr id="55" name="Google Shape;55;p8"/>
          <p:cNvSpPr txBox="1"/>
          <p:nvPr>
            <p:ph type="title"/>
          </p:nvPr>
        </p:nvSpPr>
        <p:spPr>
          <a:xfrm>
            <a:off x="3570932" y="145588"/>
            <a:ext cx="5047615"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rgbClr val="2F5496"/>
                </a:solidFill>
              </a:rPr>
              <a:t>AIM &amp; OBJECTIVES OF THE PROJECT</a:t>
            </a:r>
            <a:endParaRPr/>
          </a:p>
        </p:txBody>
      </p:sp>
      <p:sp>
        <p:nvSpPr>
          <p:cNvPr id="56" name="Google Shape;56;p8"/>
          <p:cNvSpPr txBox="1"/>
          <p:nvPr/>
        </p:nvSpPr>
        <p:spPr>
          <a:xfrm>
            <a:off x="911225" y="6378575"/>
            <a:ext cx="1090800" cy="568500"/>
          </a:xfrm>
          <a:prstGeom prst="rect">
            <a:avLst/>
          </a:prstGeom>
          <a:noFill/>
          <a:ln>
            <a:noFill/>
          </a:ln>
        </p:spPr>
        <p:txBody>
          <a:bodyPr anchorCtr="0" anchor="t" bIns="0" lIns="0" spcFirstLastPara="1" rIns="0" wrap="square" tIns="12700">
            <a:spAutoFit/>
          </a:bodyPr>
          <a:lstStyle/>
          <a:p>
            <a:pPr indent="0" lvl="0" marL="12700" rtl="0" algn="l">
              <a:lnSpc>
                <a:spcPct val="100555"/>
              </a:lnSpc>
              <a:spcBef>
                <a:spcPts val="0"/>
              </a:spcBef>
              <a:spcAft>
                <a:spcPts val="0"/>
              </a:spcAft>
              <a:buClr>
                <a:schemeClr val="dk1"/>
              </a:buClr>
              <a:buFont typeface="Arial"/>
              <a:buNone/>
            </a:pPr>
            <a:r>
              <a:rPr b="1" lang="en-US" sz="1800">
                <a:solidFill>
                  <a:srgbClr val="375523"/>
                </a:solidFill>
                <a:latin typeface="Calibri"/>
                <a:ea typeface="Calibri"/>
                <a:cs typeface="Calibri"/>
                <a:sym typeface="Calibri"/>
              </a:rPr>
              <a:t>6-03-2026</a:t>
            </a:r>
            <a:endParaRPr b="1" sz="1800">
              <a:solidFill>
                <a:srgbClr val="375523"/>
              </a:solidFill>
              <a:latin typeface="Calibri"/>
              <a:ea typeface="Calibri"/>
              <a:cs typeface="Calibri"/>
              <a:sym typeface="Calibri"/>
            </a:endParaRPr>
          </a:p>
          <a:p>
            <a:pPr indent="0" lvl="0" marL="12700" rtl="0" algn="l">
              <a:lnSpc>
                <a:spcPct val="100000"/>
              </a:lnSpc>
              <a:spcBef>
                <a:spcPts val="0"/>
              </a:spcBef>
              <a:spcAft>
                <a:spcPts val="0"/>
              </a:spcAft>
              <a:buNone/>
            </a:pPr>
            <a:r>
              <a:t/>
            </a:r>
            <a:endParaRPr b="1" sz="1800">
              <a:solidFill>
                <a:srgbClr val="375523"/>
              </a:solidFill>
              <a:latin typeface="Calibri"/>
              <a:ea typeface="Calibri"/>
              <a:cs typeface="Calibri"/>
              <a:sym typeface="Calibri"/>
            </a:endParaRPr>
          </a:p>
        </p:txBody>
      </p:sp>
      <p:sp>
        <p:nvSpPr>
          <p:cNvPr id="57" name="Google Shape;57;p8"/>
          <p:cNvSpPr txBox="1"/>
          <p:nvPr/>
        </p:nvSpPr>
        <p:spPr>
          <a:xfrm>
            <a:off x="4685971" y="6378575"/>
            <a:ext cx="281876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375523"/>
                </a:solidFill>
                <a:latin typeface="Calibri"/>
                <a:ea typeface="Calibri"/>
                <a:cs typeface="Calibri"/>
                <a:sym typeface="Calibri"/>
              </a:rPr>
              <a:t>FIRST REVIEW PRESENTATION</a:t>
            </a:r>
            <a:endParaRPr sz="1800">
              <a:latin typeface="Calibri"/>
              <a:ea typeface="Calibri"/>
              <a:cs typeface="Calibri"/>
              <a:sym typeface="Calibri"/>
            </a:endParaRPr>
          </a:p>
        </p:txBody>
      </p:sp>
      <p:sp>
        <p:nvSpPr>
          <p:cNvPr id="58" name="Google Shape;58;p8"/>
          <p:cNvSpPr txBox="1"/>
          <p:nvPr/>
        </p:nvSpPr>
        <p:spPr>
          <a:xfrm>
            <a:off x="11140384" y="6378575"/>
            <a:ext cx="14160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800">
                <a:solidFill>
                  <a:srgbClr val="375523"/>
                </a:solidFill>
                <a:latin typeface="Calibri"/>
                <a:ea typeface="Calibri"/>
                <a:cs typeface="Calibri"/>
                <a:sym typeface="Calibri"/>
              </a:rPr>
              <a:t>2</a:t>
            </a:r>
            <a:endParaRPr sz="18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 name="Shape 62"/>
        <p:cNvGrpSpPr/>
        <p:nvPr/>
      </p:nvGrpSpPr>
      <p:grpSpPr>
        <a:xfrm>
          <a:off x="0" y="0"/>
          <a:ext cx="0" cy="0"/>
          <a:chOff x="0" y="0"/>
          <a:chExt cx="0" cy="0"/>
        </a:xfrm>
      </p:grpSpPr>
      <p:sp>
        <p:nvSpPr>
          <p:cNvPr id="63" name="Google Shape;63;p9"/>
          <p:cNvSpPr txBox="1"/>
          <p:nvPr>
            <p:ph type="title"/>
          </p:nvPr>
        </p:nvSpPr>
        <p:spPr>
          <a:xfrm>
            <a:off x="4078525" y="84771"/>
            <a:ext cx="4032250" cy="519430"/>
          </a:xfrm>
          <a:prstGeom prst="rect">
            <a:avLst/>
          </a:prstGeom>
          <a:noFill/>
          <a:ln>
            <a:noFill/>
          </a:ln>
        </p:spPr>
        <p:txBody>
          <a:bodyPr anchorCtr="0" anchor="t" bIns="0" lIns="0" spcFirstLastPara="1" rIns="0" wrap="square" tIns="17775">
            <a:spAutoFit/>
          </a:bodyPr>
          <a:lstStyle/>
          <a:p>
            <a:pPr indent="0" lvl="0" marL="12700" rtl="0" algn="l">
              <a:lnSpc>
                <a:spcPct val="100000"/>
              </a:lnSpc>
              <a:spcBef>
                <a:spcPts val="0"/>
              </a:spcBef>
              <a:spcAft>
                <a:spcPts val="0"/>
              </a:spcAft>
              <a:buNone/>
            </a:pPr>
            <a:r>
              <a:rPr lang="en-US" sz="3200">
                <a:solidFill>
                  <a:srgbClr val="2F5496"/>
                </a:solidFill>
              </a:rPr>
              <a:t>LITERATURE SURVEY</a:t>
            </a:r>
            <a:endParaRPr sz="3200"/>
          </a:p>
        </p:txBody>
      </p:sp>
      <p:sp>
        <p:nvSpPr>
          <p:cNvPr id="64" name="Google Shape;64;p9"/>
          <p:cNvSpPr txBox="1"/>
          <p:nvPr/>
        </p:nvSpPr>
        <p:spPr>
          <a:xfrm>
            <a:off x="1055950" y="6400475"/>
            <a:ext cx="10517400" cy="2772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None/>
            </a:pPr>
            <a:r>
              <a:rPr b="1" lang="en-US" sz="1800">
                <a:solidFill>
                  <a:srgbClr val="375523"/>
                </a:solidFill>
                <a:latin typeface="Calibri"/>
                <a:ea typeface="Calibri"/>
                <a:cs typeface="Calibri"/>
                <a:sym typeface="Calibri"/>
              </a:rPr>
              <a:t>6-03-2026</a:t>
            </a:r>
            <a:r>
              <a:rPr lang="en-US" sz="1800">
                <a:solidFill>
                  <a:srgbClr val="0070C0"/>
                </a:solidFill>
                <a:latin typeface="Arial"/>
                <a:ea typeface="Arial"/>
                <a:cs typeface="Arial"/>
                <a:sym typeface="Arial"/>
              </a:rPr>
              <a:t>	                                            </a:t>
            </a:r>
            <a:r>
              <a:rPr lang="en-US" sz="1800">
                <a:solidFill>
                  <a:srgbClr val="0070C0"/>
                </a:solidFill>
                <a:latin typeface="Cambria"/>
                <a:ea typeface="Cambria"/>
                <a:cs typeface="Cambria"/>
                <a:sym typeface="Cambria"/>
              </a:rPr>
              <a:t>FIRST REVIEW PRESENTATION                                                       3 	</a:t>
            </a:r>
            <a:endParaRPr sz="1800">
              <a:latin typeface="Calibri"/>
              <a:ea typeface="Calibri"/>
              <a:cs typeface="Calibri"/>
              <a:sym typeface="Calibri"/>
            </a:endParaRPr>
          </a:p>
        </p:txBody>
      </p:sp>
      <p:graphicFrame>
        <p:nvGraphicFramePr>
          <p:cNvPr id="65" name="Google Shape;65;p9"/>
          <p:cNvGraphicFramePr/>
          <p:nvPr/>
        </p:nvGraphicFramePr>
        <p:xfrm>
          <a:off x="1055950" y="548978"/>
          <a:ext cx="3000000" cy="3000000"/>
        </p:xfrm>
        <a:graphic>
          <a:graphicData uri="http://schemas.openxmlformats.org/drawingml/2006/table">
            <a:tbl>
              <a:tblPr bandRow="1" firstRow="1">
                <a:noFill/>
                <a:tableStyleId>{CBCE6062-8F62-4B89-859D-0402CE6BD266}</a:tableStyleId>
              </a:tblPr>
              <a:tblGrid>
                <a:gridCol w="765800"/>
                <a:gridCol w="4170475"/>
                <a:gridCol w="2951675"/>
                <a:gridCol w="2629525"/>
              </a:tblGrid>
              <a:tr h="173672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545"/>
                        </a:spcBef>
                        <a:spcAft>
                          <a:spcPts val="0"/>
                        </a:spcAft>
                        <a:buNone/>
                      </a:pPr>
                      <a:r>
                        <a:t/>
                      </a:r>
                      <a:endParaRPr sz="1800" u="none" cap="none" strike="noStrike">
                        <a:latin typeface="Times New Roman"/>
                        <a:ea typeface="Times New Roman"/>
                        <a:cs typeface="Times New Roman"/>
                        <a:sym typeface="Times New Roman"/>
                      </a:endParaRPr>
                    </a:p>
                    <a:p>
                      <a:pPr indent="0" lvl="0" marL="0" marR="26669" rtl="0" algn="ctr">
                        <a:lnSpc>
                          <a:spcPct val="100000"/>
                        </a:lnSpc>
                        <a:spcBef>
                          <a:spcPts val="0"/>
                        </a:spcBef>
                        <a:spcAft>
                          <a:spcPts val="0"/>
                        </a:spcAft>
                        <a:buNone/>
                      </a:pPr>
                      <a:r>
                        <a:rPr b="1" lang="en-US" sz="1800" u="none" cap="none" strike="noStrike">
                          <a:latin typeface="Calibri"/>
                          <a:ea typeface="Calibri"/>
                          <a:cs typeface="Calibri"/>
                          <a:sym typeface="Calibri"/>
                        </a:rPr>
                        <a:t>Sl.No.</a:t>
                      </a:r>
                      <a:endParaRPr sz="1800" u="none" cap="none" strike="noStrike">
                        <a:latin typeface="Calibri"/>
                        <a:ea typeface="Calibri"/>
                        <a:cs typeface="Calibri"/>
                        <a:sym typeface="Calibri"/>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545"/>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1" lang="en-US" sz="1800" u="none" cap="none" strike="noStrike">
                          <a:latin typeface="Calibri"/>
                          <a:ea typeface="Calibri"/>
                          <a:cs typeface="Calibri"/>
                          <a:sym typeface="Calibri"/>
                        </a:rPr>
                        <a:t>Journal Paper Title with Author</a:t>
                      </a:r>
                      <a:endParaRPr sz="1800" u="none" cap="none" strike="noStrike">
                        <a:latin typeface="Calibri"/>
                        <a:ea typeface="Calibri"/>
                        <a:cs typeface="Calibri"/>
                        <a:sym typeface="Calibri"/>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85725" marR="843914" rtl="0" algn="l">
                        <a:lnSpc>
                          <a:spcPct val="100000"/>
                        </a:lnSpc>
                        <a:spcBef>
                          <a:spcPts val="0"/>
                        </a:spcBef>
                        <a:spcAft>
                          <a:spcPts val="0"/>
                        </a:spcAft>
                        <a:buNone/>
                      </a:pPr>
                      <a:r>
                        <a:rPr b="1" lang="en-US" sz="1800" u="none" cap="none" strike="noStrike"/>
                        <a:t>Works carried out ( with details of</a:t>
                      </a:r>
                      <a:endParaRPr b="1" sz="1800" u="none" cap="none" strike="noStrike"/>
                    </a:p>
                    <a:p>
                      <a:pPr indent="0" lvl="0" marL="85725" marR="170180" rtl="0" algn="l">
                        <a:lnSpc>
                          <a:spcPct val="100000"/>
                        </a:lnSpc>
                        <a:spcBef>
                          <a:spcPts val="0"/>
                        </a:spcBef>
                        <a:spcAft>
                          <a:spcPts val="0"/>
                        </a:spcAft>
                        <a:buNone/>
                      </a:pPr>
                      <a:r>
                        <a:rPr b="1" lang="en-US" sz="1800" u="none" cap="none" strike="noStrike"/>
                        <a:t>Methods/ Materials/ Software/ Algorithms / fabrication / techniques/ components used )</a:t>
                      </a:r>
                      <a:endParaRPr b="1" sz="1800" u="none" cap="none" strike="noStrike"/>
                    </a:p>
                  </a:txBody>
                  <a:tcPr marT="362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465"/>
                        </a:spcBef>
                        <a:spcAft>
                          <a:spcPts val="0"/>
                        </a:spcAft>
                        <a:buNone/>
                      </a:pPr>
                      <a:r>
                        <a:t/>
                      </a:r>
                      <a:endParaRPr sz="1800" u="none" cap="none" strike="noStrike">
                        <a:latin typeface="Times New Roman"/>
                        <a:ea typeface="Times New Roman"/>
                        <a:cs typeface="Times New Roman"/>
                        <a:sym typeface="Times New Roman"/>
                      </a:endParaRPr>
                    </a:p>
                    <a:p>
                      <a:pPr indent="0" lvl="0" marL="85725" marR="295910" rtl="0" algn="l">
                        <a:lnSpc>
                          <a:spcPct val="100000"/>
                        </a:lnSpc>
                        <a:spcBef>
                          <a:spcPts val="0"/>
                        </a:spcBef>
                        <a:spcAft>
                          <a:spcPts val="0"/>
                        </a:spcAft>
                        <a:buNone/>
                      </a:pPr>
                      <a:r>
                        <a:rPr b="1" lang="en-US" sz="1800" u="none" cap="none" strike="noStrike">
                          <a:latin typeface="Calibri"/>
                          <a:ea typeface="Calibri"/>
                          <a:cs typeface="Calibri"/>
                          <a:sym typeface="Calibri"/>
                        </a:rPr>
                        <a:t>Information gathered relevant to your project</a:t>
                      </a:r>
                      <a:endParaRPr sz="1800" u="none" cap="none" strike="noStrike">
                        <a:latin typeface="Calibri"/>
                        <a:ea typeface="Calibri"/>
                        <a:cs typeface="Calibri"/>
                        <a:sym typeface="Calibri"/>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r h="1367400">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545"/>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800" u="none" cap="none" strike="noStrike">
                          <a:latin typeface="Calibri"/>
                          <a:ea typeface="Calibri"/>
                          <a:cs typeface="Calibri"/>
                          <a:sym typeface="Calibri"/>
                        </a:rPr>
                        <a:t>1</a:t>
                      </a:r>
                      <a:endParaRPr sz="1800" u="none" cap="none" strike="noStrike">
                        <a:latin typeface="Calibri"/>
                        <a:ea typeface="Calibri"/>
                        <a:cs typeface="Calibri"/>
                        <a:sym typeface="Calibri"/>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85090" marR="311785" rtl="0" algn="l">
                        <a:lnSpc>
                          <a:spcPct val="100000"/>
                        </a:lnSpc>
                        <a:spcBef>
                          <a:spcPts val="0"/>
                        </a:spcBef>
                        <a:spcAft>
                          <a:spcPts val="0"/>
                        </a:spcAft>
                        <a:buNone/>
                      </a:pPr>
                      <a:r>
                        <a:rPr lang="en-US" sz="1800"/>
                        <a:t>Abhinand S Anand et al., "Automated Resume Screening System Using Machine Learning," International Research Journal of Engineering and Technology (IREJ), 2024.</a:t>
                      </a:r>
                      <a:endParaRPr sz="1800" u="none" cap="none" strike="noStrike">
                        <a:latin typeface="Calibri"/>
                        <a:ea typeface="Calibri"/>
                        <a:cs typeface="Calibri"/>
                        <a:sym typeface="Calibri"/>
                      </a:endParaRPr>
                    </a:p>
                  </a:txBody>
                  <a:tcPr marT="285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rtl="0" algn="l">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Methods: TF-IDF, Cosine Similarity, NLP preprocessing</a:t>
                      </a:r>
                      <a:br>
                        <a:rPr lang="en-US" sz="1700">
                          <a:latin typeface="Arial"/>
                          <a:ea typeface="Arial"/>
                          <a:cs typeface="Arial"/>
                          <a:sym typeface="Arial"/>
                        </a:rPr>
                      </a:br>
                      <a:r>
                        <a:rPr lang="en-US" sz="1700">
                          <a:latin typeface="Arial"/>
                          <a:ea typeface="Arial"/>
                          <a:cs typeface="Arial"/>
                          <a:sym typeface="Arial"/>
                        </a:rPr>
                        <a:t>Software: Python, scikit-learn</a:t>
                      </a:r>
                      <a:br>
                        <a:rPr lang="en-US" sz="1700">
                          <a:latin typeface="Arial"/>
                          <a:ea typeface="Arial"/>
                          <a:cs typeface="Arial"/>
                          <a:sym typeface="Arial"/>
                        </a:rPr>
                      </a:br>
                      <a:r>
                        <a:rPr lang="en-US" sz="1700">
                          <a:latin typeface="Arial"/>
                          <a:ea typeface="Arial"/>
                          <a:cs typeface="Arial"/>
                          <a:sym typeface="Arial"/>
                        </a:rPr>
                        <a:t>Features: PDF/Word support, relevance-based ranking</a:t>
                      </a:r>
                      <a:endParaRPr sz="1700">
                        <a:latin typeface="Arial"/>
                        <a:ea typeface="Arial"/>
                        <a:cs typeface="Arial"/>
                        <a:sym typeface="Arial"/>
                      </a:endParaRPr>
                    </a:p>
                    <a:p>
                      <a:pPr indent="0" lvl="0" marL="0" marR="0" rtl="0" algn="l">
                        <a:lnSpc>
                          <a:spcPct val="100000"/>
                        </a:lnSpc>
                        <a:spcBef>
                          <a:spcPts val="1200"/>
                        </a:spcBef>
                        <a:spcAft>
                          <a:spcPts val="0"/>
                        </a:spcAft>
                        <a:buNone/>
                      </a:pPr>
                      <a:r>
                        <a:t/>
                      </a:r>
                      <a:endParaRPr sz="1800">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TF-IDF combined with Cosine Similarity provides efficient matching. Preprocessing steps are critical for accuracy. System can reduce bias and save time in high-volume screening.</a:t>
                      </a:r>
                      <a:endParaRPr sz="18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r h="624850">
                <a:tc>
                  <a:txBody>
                    <a:bodyPr/>
                    <a:lstStyle/>
                    <a:p>
                      <a:pPr indent="0" lvl="0" marL="0" marR="0" rtl="0" algn="ctr">
                        <a:lnSpc>
                          <a:spcPct val="100000"/>
                        </a:lnSpc>
                        <a:spcBef>
                          <a:spcPts val="0"/>
                        </a:spcBef>
                        <a:spcAft>
                          <a:spcPts val="0"/>
                        </a:spcAft>
                        <a:buNone/>
                      </a:pPr>
                      <a:r>
                        <a:rPr lang="en-US" sz="1800" u="none" cap="none" strike="noStrike">
                          <a:latin typeface="Calibri"/>
                          <a:ea typeface="Calibri"/>
                          <a:cs typeface="Calibri"/>
                          <a:sym typeface="Calibri"/>
                        </a:rPr>
                        <a:t>2</a:t>
                      </a:r>
                      <a:endParaRPr sz="1800" u="none" cap="none" strike="noStrike">
                        <a:latin typeface="Calibri"/>
                        <a:ea typeface="Calibri"/>
                        <a:cs typeface="Calibri"/>
                        <a:sym typeface="Calibri"/>
                      </a:endParaRPr>
                    </a:p>
                  </a:txBody>
                  <a:tcPr marT="165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"Real Time Resume Screening Using NLP and Cosine Similarity," International Journal of Creative Research Thoughts (IJCRT), vol. 11, no. 4, 2023.</a:t>
                      </a:r>
                      <a:endParaRPr sz="18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rPr b="1" lang="en-US" sz="1800">
                          <a:latin typeface="Arial"/>
                          <a:ea typeface="Arial"/>
                          <a:cs typeface="Arial"/>
                          <a:sym typeface="Arial"/>
                        </a:rPr>
                        <a:t>Methods &amp; Tools:</a:t>
                      </a:r>
                      <a:r>
                        <a:rPr lang="en-US" sz="1800">
                          <a:latin typeface="Arial"/>
                          <a:ea typeface="Arial"/>
                          <a:cs typeface="Arial"/>
                          <a:sym typeface="Arial"/>
                        </a:rPr>
                        <a:t> NLP, TF-IDF, Cosine Similarity, Vector Space Model using Python, scikit-learn, and Matplotlib.</a:t>
                      </a:r>
                      <a:endParaRPr sz="18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Cosine Similarity measures vector angle to determine document similarity. TF-IDF highlights important terms while downweighting common words. Suitable for real-time processing.</a:t>
                      </a:r>
                      <a:endParaRPr sz="18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 name="Shape 69"/>
        <p:cNvGrpSpPr/>
        <p:nvPr/>
      </p:nvGrpSpPr>
      <p:grpSpPr>
        <a:xfrm>
          <a:off x="0" y="0"/>
          <a:ext cx="0" cy="0"/>
          <a:chOff x="0" y="0"/>
          <a:chExt cx="0" cy="0"/>
        </a:xfrm>
      </p:grpSpPr>
      <p:sp>
        <p:nvSpPr>
          <p:cNvPr id="70" name="Google Shape;70;p10"/>
          <p:cNvSpPr txBox="1"/>
          <p:nvPr>
            <p:ph type="title"/>
          </p:nvPr>
        </p:nvSpPr>
        <p:spPr>
          <a:xfrm>
            <a:off x="4078525" y="84771"/>
            <a:ext cx="4032250" cy="519430"/>
          </a:xfrm>
          <a:prstGeom prst="rect">
            <a:avLst/>
          </a:prstGeom>
          <a:noFill/>
          <a:ln>
            <a:noFill/>
          </a:ln>
        </p:spPr>
        <p:txBody>
          <a:bodyPr anchorCtr="0" anchor="t" bIns="0" lIns="0" spcFirstLastPara="1" rIns="0" wrap="square" tIns="17775">
            <a:spAutoFit/>
          </a:bodyPr>
          <a:lstStyle/>
          <a:p>
            <a:pPr indent="0" lvl="0" marL="12700" rtl="0" algn="l">
              <a:lnSpc>
                <a:spcPct val="100000"/>
              </a:lnSpc>
              <a:spcBef>
                <a:spcPts val="0"/>
              </a:spcBef>
              <a:spcAft>
                <a:spcPts val="0"/>
              </a:spcAft>
              <a:buNone/>
            </a:pPr>
            <a:r>
              <a:rPr lang="en-US" sz="3200">
                <a:solidFill>
                  <a:srgbClr val="2F5496"/>
                </a:solidFill>
              </a:rPr>
              <a:t>LITERATURE SURVEY</a:t>
            </a:r>
            <a:endParaRPr sz="3200"/>
          </a:p>
        </p:txBody>
      </p:sp>
      <p:sp>
        <p:nvSpPr>
          <p:cNvPr id="71" name="Google Shape;71;p10"/>
          <p:cNvSpPr txBox="1"/>
          <p:nvPr/>
        </p:nvSpPr>
        <p:spPr>
          <a:xfrm>
            <a:off x="923925" y="6414262"/>
            <a:ext cx="10344300" cy="2772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None/>
            </a:pPr>
            <a:r>
              <a:rPr b="1" lang="en-US" sz="1800">
                <a:solidFill>
                  <a:srgbClr val="375523"/>
                </a:solidFill>
                <a:latin typeface="Calibri"/>
                <a:ea typeface="Calibri"/>
                <a:cs typeface="Calibri"/>
                <a:sym typeface="Calibri"/>
              </a:rPr>
              <a:t>6-03-2026</a:t>
            </a:r>
            <a:r>
              <a:rPr lang="en-US" sz="1800">
                <a:solidFill>
                  <a:srgbClr val="0070C0"/>
                </a:solidFill>
                <a:latin typeface="Arial"/>
                <a:ea typeface="Arial"/>
                <a:cs typeface="Arial"/>
                <a:sym typeface="Arial"/>
              </a:rPr>
              <a:t>                                     </a:t>
            </a:r>
            <a:r>
              <a:rPr lang="en-US" sz="1800">
                <a:solidFill>
                  <a:srgbClr val="0070C0"/>
                </a:solidFill>
                <a:latin typeface="Cambria"/>
                <a:ea typeface="Cambria"/>
                <a:cs typeface="Cambria"/>
                <a:sym typeface="Cambria"/>
              </a:rPr>
              <a:t>FIRST REVIEW PRESENTATION	                                                              </a:t>
            </a:r>
            <a:r>
              <a:rPr lang="en-US" sz="1800">
                <a:solidFill>
                  <a:srgbClr val="0070C0"/>
                </a:solidFill>
                <a:latin typeface="Calibri"/>
                <a:ea typeface="Calibri"/>
                <a:cs typeface="Calibri"/>
                <a:sym typeface="Calibri"/>
              </a:rPr>
              <a:t>4</a:t>
            </a:r>
            <a:endParaRPr sz="1800">
              <a:latin typeface="Calibri"/>
              <a:ea typeface="Calibri"/>
              <a:cs typeface="Calibri"/>
              <a:sym typeface="Calibri"/>
            </a:endParaRPr>
          </a:p>
        </p:txBody>
      </p:sp>
      <p:graphicFrame>
        <p:nvGraphicFramePr>
          <p:cNvPr id="72" name="Google Shape;72;p10"/>
          <p:cNvGraphicFramePr/>
          <p:nvPr/>
        </p:nvGraphicFramePr>
        <p:xfrm>
          <a:off x="597788" y="807578"/>
          <a:ext cx="3000000" cy="3000000"/>
        </p:xfrm>
        <a:graphic>
          <a:graphicData uri="http://schemas.openxmlformats.org/drawingml/2006/table">
            <a:tbl>
              <a:tblPr bandRow="1" firstRow="1">
                <a:noFill/>
                <a:tableStyleId>{CBCE6062-8F62-4B89-859D-0402CE6BD266}</a:tableStyleId>
              </a:tblPr>
              <a:tblGrid>
                <a:gridCol w="779775"/>
                <a:gridCol w="4478650"/>
                <a:gridCol w="2629525"/>
                <a:gridCol w="2629525"/>
              </a:tblGrid>
              <a:tr h="1915500">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545"/>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800"/>
                        <a:t>3</a:t>
                      </a:r>
                      <a:endParaRPr sz="1800" u="none" cap="none" strike="noStrike">
                        <a:latin typeface="Calibri"/>
                        <a:ea typeface="Calibri"/>
                        <a:cs typeface="Calibri"/>
                        <a:sym typeface="Calibri"/>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85725" marR="297815" rtl="0" algn="l">
                        <a:lnSpc>
                          <a:spcPct val="100000"/>
                        </a:lnSpc>
                        <a:spcBef>
                          <a:spcPts val="0"/>
                        </a:spcBef>
                        <a:spcAft>
                          <a:spcPts val="0"/>
                        </a:spcAft>
                        <a:buNone/>
                      </a:pPr>
                      <a:r>
                        <a:rPr lang="en-US" sz="1800"/>
                        <a:t>Dr. Prabha M. et al., "Resume Screening and Job Recommendation Using ML," International Journal of Computer Applications, 2023.</a:t>
                      </a:r>
                      <a:endParaRPr sz="1800" u="none" cap="none" strike="noStrike">
                        <a:latin typeface="Calibri"/>
                        <a:ea typeface="Calibri"/>
                        <a:cs typeface="Calibri"/>
                        <a:sym typeface="Calibri"/>
                      </a:endParaRPr>
                    </a:p>
                  </a:txBody>
                  <a:tcPr marT="285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Methods: Random Forest, Decision Tree, KNN with soft computing. Dataset: Resume-20K (20,000 resumes). Preprocessing: Tokenization, stop-word removal, lemmatization, TF-IDF. Performance: 95% accuracy, Precision 0.92, Recall 0.90</a:t>
                      </a:r>
                      <a:endParaRPr sz="18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Random Forest outperforms other classifiers for resume categorization. Comprehensive preprocessing pipeline improves model performance.</a:t>
                      </a:r>
                      <a:endParaRPr sz="18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r h="1915500">
                <a:tc>
                  <a:txBody>
                    <a:bodyPr/>
                    <a:lstStyle/>
                    <a:p>
                      <a:pPr indent="0" lvl="0" marL="0" marR="0" rtl="0" algn="ctr">
                        <a:lnSpc>
                          <a:spcPct val="100000"/>
                        </a:lnSpc>
                        <a:spcBef>
                          <a:spcPts val="0"/>
                        </a:spcBef>
                        <a:spcAft>
                          <a:spcPts val="0"/>
                        </a:spcAft>
                        <a:buNone/>
                      </a:pPr>
                      <a:r>
                        <a:rPr lang="en-US" sz="1800"/>
                        <a:t>4</a:t>
                      </a:r>
                      <a:endParaRPr sz="1800" u="none" cap="none" strike="noStrike">
                        <a:latin typeface="Calibri"/>
                        <a:ea typeface="Calibri"/>
                        <a:cs typeface="Calibri"/>
                        <a:sym typeface="Calibri"/>
                      </a:endParaRPr>
                    </a:p>
                  </a:txBody>
                  <a:tcPr marT="165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K. Sandhya Rani et al., "Resume Enhancement Tool for Job Description Matching," International Journal of Engineering Research &amp; Technology (IJERT), 2023.</a:t>
                      </a:r>
                      <a:endParaRPr sz="18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Methods: spaCy for skill extraction, TF-IDF and Cosine Similarity for matching, Regex for experience calculation. Features: ATS scoring, skill analysis, certification recommendations. Deployment: Flask, MongoDB</a:t>
                      </a:r>
                      <a:endParaRPr sz="18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c>
                  <a:txBody>
                    <a:bodyPr/>
                    <a:lstStyle/>
                    <a:p>
                      <a:pPr indent="0" lvl="0" marL="0" marR="0" rtl="0" algn="l">
                        <a:lnSpc>
                          <a:spcPct val="100000"/>
                        </a:lnSpc>
                        <a:spcBef>
                          <a:spcPts val="0"/>
                        </a:spcBef>
                        <a:spcAft>
                          <a:spcPts val="0"/>
                        </a:spcAft>
                        <a:buNone/>
                      </a:pPr>
                      <a:r>
                        <a:rPr lang="en-US" sz="1800">
                          <a:latin typeface="Times New Roman"/>
                          <a:ea typeface="Times New Roman"/>
                          <a:cs typeface="Times New Roman"/>
                          <a:sym typeface="Times New Roman"/>
                        </a:rPr>
                        <a:t>ATS scoring is essential for modern recruitment. Skill gap analysis with course recommendations adds value to candidates.</a:t>
                      </a:r>
                      <a:endParaRPr sz="18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1"/>
          <p:cNvSpPr txBox="1"/>
          <p:nvPr/>
        </p:nvSpPr>
        <p:spPr>
          <a:xfrm>
            <a:off x="911225" y="960500"/>
            <a:ext cx="10698600" cy="4431000"/>
          </a:xfrm>
          <a:prstGeom prst="rect">
            <a:avLst/>
          </a:prstGeom>
          <a:noFill/>
          <a:ln>
            <a:noFill/>
          </a:ln>
        </p:spPr>
        <p:txBody>
          <a:bodyPr anchorCtr="0" anchor="t" bIns="0" lIns="0" spcFirstLastPara="1" rIns="0" wrap="square" tIns="97150">
            <a:spAutoFit/>
          </a:bodyPr>
          <a:lstStyle/>
          <a:p>
            <a:pPr indent="0" lvl="0" marL="0" rtl="0" algn="l">
              <a:lnSpc>
                <a:spcPct val="115000"/>
              </a:lnSpc>
              <a:spcBef>
                <a:spcPts val="1400"/>
              </a:spcBef>
              <a:spcAft>
                <a:spcPts val="0"/>
              </a:spcAft>
              <a:buNone/>
            </a:pPr>
            <a:r>
              <a:rPr b="1" lang="en-US" sz="2500">
                <a:solidFill>
                  <a:schemeClr val="dk1"/>
                </a:solidFill>
              </a:rPr>
              <a:t>In Scope</a:t>
            </a:r>
            <a:endParaRPr b="1" sz="25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Resume extraction &amp; preprocessing</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Matching (TF-IDF + cosine)</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Skill &amp; bias detection</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AI evaluation (Llama 3.1)</a:t>
            </a:r>
            <a:endParaRPr sz="2100">
              <a:solidFill>
                <a:schemeClr val="dk1"/>
              </a:solidFill>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rPr>
              <a:t>Dashboard + reports + export</a:t>
            </a:r>
            <a:endParaRPr sz="2100">
              <a:solidFill>
                <a:schemeClr val="dk1"/>
              </a:solidFill>
            </a:endParaRPr>
          </a:p>
          <a:p>
            <a:pPr indent="0" lvl="0" marL="914400" rtl="0" algn="l">
              <a:lnSpc>
                <a:spcPct val="100000"/>
              </a:lnSpc>
              <a:spcBef>
                <a:spcPts val="1200"/>
              </a:spcBef>
              <a:spcAft>
                <a:spcPts val="0"/>
              </a:spcAft>
              <a:buNone/>
            </a:pPr>
            <a:r>
              <a:t/>
            </a:r>
            <a:endParaRPr b="1" sz="2400">
              <a:latin typeface="Calibri"/>
              <a:ea typeface="Calibri"/>
              <a:cs typeface="Calibri"/>
              <a:sym typeface="Calibri"/>
            </a:endParaRPr>
          </a:p>
          <a:p>
            <a:pPr indent="0" lvl="0" marL="0" rtl="0" algn="l">
              <a:lnSpc>
                <a:spcPct val="100000"/>
              </a:lnSpc>
              <a:spcBef>
                <a:spcPts val="0"/>
              </a:spcBef>
              <a:spcAft>
                <a:spcPts val="0"/>
              </a:spcAft>
              <a:buNone/>
            </a:pPr>
            <a:r>
              <a:rPr b="1" lang="en-US" sz="2400">
                <a:latin typeface="Calibri"/>
                <a:ea typeface="Calibri"/>
                <a:cs typeface="Calibri"/>
                <a:sym typeface="Calibri"/>
              </a:rPr>
              <a:t>Out of Scope:</a:t>
            </a:r>
            <a:endParaRPr b="1" sz="2400">
              <a:latin typeface="Calibri"/>
              <a:ea typeface="Calibri"/>
              <a:cs typeface="Calibri"/>
              <a:sym typeface="Calibri"/>
            </a:endParaRPr>
          </a:p>
          <a:p>
            <a:pPr indent="-368300" lvl="0" marL="457200" rtl="0" algn="l">
              <a:lnSpc>
                <a:spcPct val="100000"/>
              </a:lnSpc>
              <a:spcBef>
                <a:spcPts val="0"/>
              </a:spcBef>
              <a:spcAft>
                <a:spcPts val="0"/>
              </a:spcAft>
              <a:buSzPts val="2200"/>
              <a:buFont typeface="Calibri"/>
              <a:buChar char="●"/>
            </a:pPr>
            <a:r>
              <a:rPr lang="en-US" sz="2200">
                <a:latin typeface="Calibri"/>
                <a:ea typeface="Calibri"/>
                <a:cs typeface="Calibri"/>
                <a:sym typeface="Calibri"/>
              </a:rPr>
              <a:t>Image-based resume OCR (future enhancement)</a:t>
            </a:r>
            <a:endParaRPr sz="2200">
              <a:latin typeface="Calibri"/>
              <a:ea typeface="Calibri"/>
              <a:cs typeface="Calibri"/>
              <a:sym typeface="Calibri"/>
            </a:endParaRPr>
          </a:p>
          <a:p>
            <a:pPr indent="-368300" lvl="0" marL="457200" rtl="0" algn="l">
              <a:lnSpc>
                <a:spcPct val="100000"/>
              </a:lnSpc>
              <a:spcBef>
                <a:spcPts val="0"/>
              </a:spcBef>
              <a:spcAft>
                <a:spcPts val="0"/>
              </a:spcAft>
              <a:buSzPts val="2200"/>
              <a:buFont typeface="Calibri"/>
              <a:buChar char="●"/>
            </a:pPr>
            <a:r>
              <a:rPr lang="en-US" sz="2200">
                <a:latin typeface="Calibri"/>
                <a:ea typeface="Calibri"/>
                <a:cs typeface="Calibri"/>
                <a:sym typeface="Calibri"/>
              </a:rPr>
              <a:t>Integration with external ATS/HRIS systems</a:t>
            </a:r>
            <a:endParaRPr sz="2200">
              <a:latin typeface="Calibri"/>
              <a:ea typeface="Calibri"/>
              <a:cs typeface="Calibri"/>
              <a:sym typeface="Calibri"/>
            </a:endParaRPr>
          </a:p>
          <a:p>
            <a:pPr indent="0" lvl="0" marL="914400" rtl="0" algn="l">
              <a:lnSpc>
                <a:spcPct val="100000"/>
              </a:lnSpc>
              <a:spcBef>
                <a:spcPts val="0"/>
              </a:spcBef>
              <a:spcAft>
                <a:spcPts val="0"/>
              </a:spcAft>
              <a:buNone/>
            </a:pPr>
            <a:r>
              <a:t/>
            </a:r>
            <a:endParaRPr sz="2000">
              <a:latin typeface="Calibri"/>
              <a:ea typeface="Calibri"/>
              <a:cs typeface="Calibri"/>
              <a:sym typeface="Calibri"/>
            </a:endParaRPr>
          </a:p>
        </p:txBody>
      </p:sp>
      <p:sp>
        <p:nvSpPr>
          <p:cNvPr id="78" name="Google Shape;78;p11"/>
          <p:cNvSpPr txBox="1"/>
          <p:nvPr>
            <p:ph idx="10" type="dt"/>
          </p:nvPr>
        </p:nvSpPr>
        <p:spPr>
          <a:xfrm>
            <a:off x="911225" y="6435725"/>
            <a:ext cx="1090800" cy="5556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12700" rtl="0" algn="l">
              <a:lnSpc>
                <a:spcPct val="100555"/>
              </a:lnSpc>
              <a:spcBef>
                <a:spcPts val="0"/>
              </a:spcBef>
              <a:spcAft>
                <a:spcPts val="0"/>
              </a:spcAft>
              <a:buNone/>
            </a:pPr>
            <a:r>
              <a:t/>
            </a:r>
            <a:endParaRPr/>
          </a:p>
        </p:txBody>
      </p:sp>
      <p:sp>
        <p:nvSpPr>
          <p:cNvPr id="79" name="Google Shape;79;p11"/>
          <p:cNvSpPr txBox="1"/>
          <p:nvPr/>
        </p:nvSpPr>
        <p:spPr>
          <a:xfrm>
            <a:off x="4685971" y="6435725"/>
            <a:ext cx="2818765" cy="2540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None/>
            </a:pPr>
            <a:r>
              <a:rPr b="1" lang="en-US" sz="1800">
                <a:solidFill>
                  <a:srgbClr val="375523"/>
                </a:solidFill>
                <a:latin typeface="Calibri"/>
                <a:ea typeface="Calibri"/>
                <a:cs typeface="Calibri"/>
                <a:sym typeface="Calibri"/>
              </a:rPr>
              <a:t>FIRST REVIEW PRESENTATION</a:t>
            </a:r>
            <a:endParaRPr sz="1800">
              <a:latin typeface="Calibri"/>
              <a:ea typeface="Calibri"/>
              <a:cs typeface="Calibri"/>
              <a:sym typeface="Calibri"/>
            </a:endParaRPr>
          </a:p>
        </p:txBody>
      </p:sp>
      <p:sp>
        <p:nvSpPr>
          <p:cNvPr id="80" name="Google Shape;80;p11"/>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p>
            <a:pPr indent="0" lvl="0" marL="77470" rtl="0" algn="l">
              <a:lnSpc>
                <a:spcPct val="100555"/>
              </a:lnSpc>
              <a:spcBef>
                <a:spcPts val="0"/>
              </a:spcBef>
              <a:spcAft>
                <a:spcPts val="0"/>
              </a:spcAft>
              <a:buNone/>
            </a:pPr>
            <a:fld id="{00000000-1234-1234-1234-123412341234}" type="slidenum">
              <a:rPr b="1" lang="en-US" sz="1800">
                <a:solidFill>
                  <a:srgbClr val="375523"/>
                </a:solidFill>
                <a:latin typeface="Calibri"/>
                <a:ea typeface="Calibri"/>
                <a:cs typeface="Calibri"/>
                <a:sym typeface="Calibri"/>
              </a:rPr>
              <a:t>‹#›</a:t>
            </a:fld>
            <a:endParaRPr sz="1800">
              <a:latin typeface="Calibri"/>
              <a:ea typeface="Calibri"/>
              <a:cs typeface="Calibri"/>
              <a:sym typeface="Calibri"/>
            </a:endParaRPr>
          </a:p>
        </p:txBody>
      </p:sp>
      <p:sp>
        <p:nvSpPr>
          <p:cNvPr id="81" name="Google Shape;81;p11"/>
          <p:cNvSpPr txBox="1"/>
          <p:nvPr>
            <p:ph type="title"/>
          </p:nvPr>
        </p:nvSpPr>
        <p:spPr>
          <a:xfrm>
            <a:off x="2284015" y="240908"/>
            <a:ext cx="7623968" cy="391159"/>
          </a:xfrm>
          <a:prstGeom prst="rect">
            <a:avLst/>
          </a:prstGeom>
          <a:noFill/>
          <a:ln>
            <a:noFill/>
          </a:ln>
        </p:spPr>
        <p:txBody>
          <a:bodyPr anchorCtr="0" anchor="t" bIns="0" lIns="0" spcFirstLastPara="1" rIns="0" wrap="square" tIns="12700">
            <a:spAutoFit/>
          </a:bodyPr>
          <a:lstStyle/>
          <a:p>
            <a:pPr indent="0" lvl="0" marL="2154555" rtl="0" algn="l">
              <a:lnSpc>
                <a:spcPct val="100000"/>
              </a:lnSpc>
              <a:spcBef>
                <a:spcPts val="0"/>
              </a:spcBef>
              <a:spcAft>
                <a:spcPts val="0"/>
              </a:spcAft>
              <a:buNone/>
            </a:pPr>
            <a:r>
              <a:rPr lang="en-US">
                <a:solidFill>
                  <a:srgbClr val="2F5496"/>
                </a:solidFill>
              </a:rPr>
              <a:t>SCOPE OF THE PROJECT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2"/>
          <p:cNvSpPr txBox="1"/>
          <p:nvPr/>
        </p:nvSpPr>
        <p:spPr>
          <a:xfrm>
            <a:off x="821150" y="787750"/>
            <a:ext cx="10919700" cy="4915800"/>
          </a:xfrm>
          <a:prstGeom prst="rect">
            <a:avLst/>
          </a:prstGeom>
          <a:noFill/>
          <a:ln>
            <a:noFill/>
          </a:ln>
        </p:spPr>
        <p:txBody>
          <a:bodyPr anchorCtr="0" anchor="t" bIns="0" lIns="0" spcFirstLastPara="1" rIns="0" wrap="square" tIns="97150">
            <a:spAutoFit/>
          </a:bodyPr>
          <a:lstStyle/>
          <a:p>
            <a:pPr indent="0" lvl="0" marL="0" rtl="0" algn="l">
              <a:lnSpc>
                <a:spcPct val="100000"/>
              </a:lnSpc>
              <a:spcBef>
                <a:spcPts val="0"/>
              </a:spcBef>
              <a:spcAft>
                <a:spcPts val="0"/>
              </a:spcAft>
              <a:buNone/>
            </a:pPr>
            <a:r>
              <a:rPr b="1" lang="en-US" sz="2000">
                <a:latin typeface="Calibri"/>
                <a:ea typeface="Calibri"/>
                <a:cs typeface="Calibri"/>
                <a:sym typeface="Calibri"/>
              </a:rPr>
              <a:t> </a:t>
            </a:r>
            <a:r>
              <a:rPr b="1" lang="en-US" sz="2400">
                <a:latin typeface="Calibri"/>
                <a:ea typeface="Calibri"/>
                <a:cs typeface="Calibri"/>
                <a:sym typeface="Calibri"/>
              </a:rPr>
              <a:t>Problem Statement:</a:t>
            </a:r>
            <a:endParaRPr b="1" sz="2400">
              <a:latin typeface="Calibri"/>
              <a:ea typeface="Calibri"/>
              <a:cs typeface="Calibri"/>
              <a:sym typeface="Calibri"/>
            </a:endParaRPr>
          </a:p>
          <a:p>
            <a:pPr indent="-361950" lvl="0" marL="457200" rtl="0" algn="l">
              <a:lnSpc>
                <a:spcPct val="100000"/>
              </a:lnSpc>
              <a:spcBef>
                <a:spcPts val="0"/>
              </a:spcBef>
              <a:spcAft>
                <a:spcPts val="0"/>
              </a:spcAft>
              <a:buSzPts val="2100"/>
              <a:buFont typeface="Calibri"/>
              <a:buChar char="●"/>
            </a:pPr>
            <a:r>
              <a:rPr b="1" lang="en-US" sz="2100">
                <a:latin typeface="Calibri"/>
                <a:ea typeface="Calibri"/>
                <a:cs typeface="Calibri"/>
                <a:sym typeface="Calibri"/>
              </a:rPr>
              <a:t>Volume Challenge:</a:t>
            </a:r>
            <a:r>
              <a:rPr lang="en-US" sz="2100">
                <a:latin typeface="Calibri"/>
                <a:ea typeface="Calibri"/>
                <a:cs typeface="Calibri"/>
                <a:sym typeface="Calibri"/>
              </a:rPr>
              <a:t> HR departments receive 250+ applications per job posting; manual screening takes 30+ hours per position </a:t>
            </a:r>
            <a:endParaRPr sz="2100">
              <a:latin typeface="Calibri"/>
              <a:ea typeface="Calibri"/>
              <a:cs typeface="Calibri"/>
              <a:sym typeface="Calibri"/>
            </a:endParaRPr>
          </a:p>
          <a:p>
            <a:pPr indent="-361950" lvl="0" marL="457200" rtl="0" algn="l">
              <a:lnSpc>
                <a:spcPct val="100000"/>
              </a:lnSpc>
              <a:spcBef>
                <a:spcPts val="0"/>
              </a:spcBef>
              <a:spcAft>
                <a:spcPts val="0"/>
              </a:spcAft>
              <a:buSzPts val="2100"/>
              <a:buFont typeface="Calibri"/>
              <a:buChar char="●"/>
            </a:pPr>
            <a:r>
              <a:rPr b="1" lang="en-US" sz="2100">
                <a:latin typeface="Calibri"/>
                <a:ea typeface="Calibri"/>
                <a:cs typeface="Calibri"/>
                <a:sym typeface="Calibri"/>
              </a:rPr>
              <a:t>Bias Issues:</a:t>
            </a:r>
            <a:r>
              <a:rPr lang="en-US" sz="2100">
                <a:latin typeface="Calibri"/>
                <a:ea typeface="Calibri"/>
                <a:cs typeface="Calibri"/>
                <a:sym typeface="Calibri"/>
              </a:rPr>
              <a:t> Traditional screening suffers from unconscious bias related to gender, age, and cultural background </a:t>
            </a:r>
            <a:endParaRPr sz="2100">
              <a:latin typeface="Calibri"/>
              <a:ea typeface="Calibri"/>
              <a:cs typeface="Calibri"/>
              <a:sym typeface="Calibri"/>
            </a:endParaRPr>
          </a:p>
          <a:p>
            <a:pPr indent="-361950" lvl="0" marL="457200" rtl="0" algn="l">
              <a:lnSpc>
                <a:spcPct val="100000"/>
              </a:lnSpc>
              <a:spcBef>
                <a:spcPts val="0"/>
              </a:spcBef>
              <a:spcAft>
                <a:spcPts val="0"/>
              </a:spcAft>
              <a:buSzPts val="2100"/>
              <a:buFont typeface="Calibri"/>
              <a:buChar char="●"/>
            </a:pPr>
            <a:r>
              <a:rPr b="1" lang="en-US" sz="2100">
                <a:latin typeface="Calibri"/>
                <a:ea typeface="Calibri"/>
                <a:cs typeface="Calibri"/>
                <a:sym typeface="Calibri"/>
              </a:rPr>
              <a:t>Inefficiency:</a:t>
            </a:r>
            <a:r>
              <a:rPr lang="en-US" sz="2100">
                <a:latin typeface="Calibri"/>
                <a:ea typeface="Calibri"/>
                <a:cs typeface="Calibri"/>
                <a:sym typeface="Calibri"/>
              </a:rPr>
              <a:t> 88% of resumes received are unqualified for the position, yet consume equal review time</a:t>
            </a:r>
            <a:endParaRPr sz="2100">
              <a:latin typeface="Calibri"/>
              <a:ea typeface="Calibri"/>
              <a:cs typeface="Calibri"/>
              <a:sym typeface="Calibri"/>
            </a:endParaRPr>
          </a:p>
          <a:p>
            <a:pPr indent="0" lvl="0" marL="0" rtl="0" algn="l">
              <a:lnSpc>
                <a:spcPct val="100000"/>
              </a:lnSpc>
              <a:spcBef>
                <a:spcPts val="0"/>
              </a:spcBef>
              <a:spcAft>
                <a:spcPts val="0"/>
              </a:spcAft>
              <a:buNone/>
            </a:pPr>
            <a:r>
              <a:rPr lang="en-US" sz="2000">
                <a:latin typeface="Calibri"/>
                <a:ea typeface="Calibri"/>
                <a:cs typeface="Calibri"/>
                <a:sym typeface="Calibri"/>
              </a:rPr>
              <a:t> </a:t>
            </a:r>
            <a:endParaRPr b="1" sz="2000">
              <a:latin typeface="Calibri"/>
              <a:ea typeface="Calibri"/>
              <a:cs typeface="Calibri"/>
              <a:sym typeface="Calibri"/>
            </a:endParaRPr>
          </a:p>
          <a:p>
            <a:pPr indent="0" lvl="0" marL="0" rtl="0" algn="l">
              <a:lnSpc>
                <a:spcPct val="100000"/>
              </a:lnSpc>
              <a:spcBef>
                <a:spcPts val="0"/>
              </a:spcBef>
              <a:spcAft>
                <a:spcPts val="0"/>
              </a:spcAft>
              <a:buNone/>
            </a:pPr>
            <a:r>
              <a:rPr b="1" lang="en-US" sz="2300">
                <a:latin typeface="Calibri"/>
                <a:ea typeface="Calibri"/>
                <a:cs typeface="Calibri"/>
                <a:sym typeface="Calibri"/>
              </a:rPr>
              <a:t>Why This Solution:</a:t>
            </a:r>
            <a:endParaRPr b="1" sz="2300">
              <a:latin typeface="Calibri"/>
              <a:ea typeface="Calibri"/>
              <a:cs typeface="Calibri"/>
              <a:sym typeface="Calibri"/>
            </a:endParaRPr>
          </a:p>
          <a:p>
            <a:pPr indent="0" lvl="0" marL="457200" rtl="0" algn="l">
              <a:spcBef>
                <a:spcPts val="0"/>
              </a:spcBef>
              <a:spcAft>
                <a:spcPts val="0"/>
              </a:spcAft>
              <a:buClr>
                <a:schemeClr val="dk1"/>
              </a:buClr>
              <a:buSzPts val="1100"/>
              <a:buFont typeface="Arial"/>
              <a:buNone/>
            </a:pPr>
            <a:r>
              <a:rPr b="1" lang="en-US" sz="2000">
                <a:solidFill>
                  <a:schemeClr val="dk1"/>
                </a:solidFill>
              </a:rPr>
              <a:t>Speed:</a:t>
            </a:r>
            <a:r>
              <a:rPr lang="en-US" sz="2000">
                <a:solidFill>
                  <a:schemeClr val="dk1"/>
                </a:solidFill>
              </a:rPr>
              <a:t> Cuts resume screening time from hours to minutes (85–90% faster)</a:t>
            </a:r>
            <a:endParaRPr sz="2000">
              <a:solidFill>
                <a:schemeClr val="dk1"/>
              </a:solidFill>
            </a:endParaRPr>
          </a:p>
          <a:p>
            <a:pPr indent="0" lvl="0" marL="457200" rtl="0" algn="l">
              <a:spcBef>
                <a:spcPts val="0"/>
              </a:spcBef>
              <a:spcAft>
                <a:spcPts val="0"/>
              </a:spcAft>
              <a:buClr>
                <a:schemeClr val="dk1"/>
              </a:buClr>
              <a:buSzPts val="1100"/>
              <a:buFont typeface="Arial"/>
              <a:buNone/>
            </a:pPr>
            <a:r>
              <a:rPr b="1" lang="en-US" sz="2000">
                <a:solidFill>
                  <a:schemeClr val="dk1"/>
                </a:solidFill>
              </a:rPr>
              <a:t>Accuracy:</a:t>
            </a:r>
            <a:r>
              <a:rPr lang="en-US" sz="2000">
                <a:solidFill>
                  <a:schemeClr val="dk1"/>
                </a:solidFill>
              </a:rPr>
              <a:t> Matches resumes precisely using TF-IDF and cosine similarity</a:t>
            </a:r>
            <a:endParaRPr sz="2000">
              <a:solidFill>
                <a:schemeClr val="dk1"/>
              </a:solidFill>
            </a:endParaRPr>
          </a:p>
          <a:p>
            <a:pPr indent="0" lvl="0" marL="457200" rtl="0" algn="l">
              <a:spcBef>
                <a:spcPts val="0"/>
              </a:spcBef>
              <a:spcAft>
                <a:spcPts val="0"/>
              </a:spcAft>
              <a:buClr>
                <a:schemeClr val="dk1"/>
              </a:buClr>
              <a:buSzPts val="1100"/>
              <a:buFont typeface="Arial"/>
              <a:buNone/>
            </a:pPr>
            <a:r>
              <a:rPr b="1" lang="en-US" sz="2000">
                <a:solidFill>
                  <a:schemeClr val="dk1"/>
                </a:solidFill>
              </a:rPr>
              <a:t>Fairness:</a:t>
            </a:r>
            <a:r>
              <a:rPr lang="en-US" sz="2000">
                <a:solidFill>
                  <a:schemeClr val="dk1"/>
                </a:solidFill>
              </a:rPr>
              <a:t> Detects and flags biased or non-inclusive language</a:t>
            </a:r>
            <a:endParaRPr sz="2000">
              <a:solidFill>
                <a:schemeClr val="dk1"/>
              </a:solidFill>
            </a:endParaRPr>
          </a:p>
          <a:p>
            <a:pPr indent="0" lvl="0" marL="457200" rtl="0" algn="l">
              <a:spcBef>
                <a:spcPts val="0"/>
              </a:spcBef>
              <a:spcAft>
                <a:spcPts val="0"/>
              </a:spcAft>
              <a:buClr>
                <a:schemeClr val="dk1"/>
              </a:buClr>
              <a:buSzPts val="1100"/>
              <a:buFont typeface="Arial"/>
              <a:buNone/>
            </a:pPr>
            <a:r>
              <a:rPr b="1" lang="en-US" sz="2000">
                <a:solidFill>
                  <a:schemeClr val="dk1"/>
                </a:solidFill>
              </a:rPr>
              <a:t>Depth:</a:t>
            </a:r>
            <a:r>
              <a:rPr lang="en-US" sz="2000">
                <a:solidFill>
                  <a:schemeClr val="dk1"/>
                </a:solidFill>
              </a:rPr>
              <a:t> AI gives deeper insights beyond just keywords</a:t>
            </a:r>
            <a:endParaRPr sz="2000">
              <a:solidFill>
                <a:schemeClr val="dk1"/>
              </a:solidFill>
            </a:endParaRPr>
          </a:p>
          <a:p>
            <a:pPr indent="0" lvl="0" marL="457200" rtl="0" algn="l">
              <a:spcBef>
                <a:spcPts val="0"/>
              </a:spcBef>
              <a:spcAft>
                <a:spcPts val="0"/>
              </a:spcAft>
              <a:buClr>
                <a:schemeClr val="dk1"/>
              </a:buClr>
              <a:buSzPts val="1100"/>
              <a:buFont typeface="Arial"/>
              <a:buNone/>
            </a:pPr>
            <a:r>
              <a:rPr b="1" lang="en-US" sz="2000">
                <a:solidFill>
                  <a:schemeClr val="dk1"/>
                </a:solidFill>
              </a:rPr>
              <a:t>Usability:</a:t>
            </a:r>
            <a:r>
              <a:rPr lang="en-US" sz="2000">
                <a:solidFill>
                  <a:schemeClr val="dk1"/>
                </a:solidFill>
              </a:rPr>
              <a:t> Easy-to-use dashboard with filters and reports</a:t>
            </a:r>
            <a:endParaRPr sz="2000">
              <a:solidFill>
                <a:schemeClr val="dk1"/>
              </a:solidFill>
            </a:endParaRPr>
          </a:p>
          <a:p>
            <a:pPr indent="0" lvl="0" marL="457200" rtl="0" algn="l">
              <a:lnSpc>
                <a:spcPct val="100000"/>
              </a:lnSpc>
              <a:spcBef>
                <a:spcPts val="0"/>
              </a:spcBef>
              <a:spcAft>
                <a:spcPts val="0"/>
              </a:spcAft>
              <a:buNone/>
            </a:pPr>
            <a:r>
              <a:t/>
            </a:r>
            <a:endParaRPr sz="2000">
              <a:latin typeface="Calibri"/>
              <a:ea typeface="Calibri"/>
              <a:cs typeface="Calibri"/>
              <a:sym typeface="Calibri"/>
            </a:endParaRPr>
          </a:p>
        </p:txBody>
      </p:sp>
      <p:sp>
        <p:nvSpPr>
          <p:cNvPr id="87" name="Google Shape;87;p12"/>
          <p:cNvSpPr txBox="1"/>
          <p:nvPr>
            <p:ph idx="10" type="dt"/>
          </p:nvPr>
        </p:nvSpPr>
        <p:spPr>
          <a:xfrm>
            <a:off x="911225" y="6435725"/>
            <a:ext cx="1775700" cy="5556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12700" rtl="0" algn="l">
              <a:lnSpc>
                <a:spcPct val="100555"/>
              </a:lnSpc>
              <a:spcBef>
                <a:spcPts val="0"/>
              </a:spcBef>
              <a:spcAft>
                <a:spcPts val="0"/>
              </a:spcAft>
              <a:buNone/>
            </a:pPr>
            <a:r>
              <a:t/>
            </a:r>
            <a:endParaRPr/>
          </a:p>
        </p:txBody>
      </p:sp>
      <p:sp>
        <p:nvSpPr>
          <p:cNvPr id="88" name="Google Shape;88;p12"/>
          <p:cNvSpPr txBox="1"/>
          <p:nvPr/>
        </p:nvSpPr>
        <p:spPr>
          <a:xfrm>
            <a:off x="4685971" y="6435725"/>
            <a:ext cx="2818765" cy="2540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None/>
            </a:pPr>
            <a:r>
              <a:rPr b="1" lang="en-US" sz="1800">
                <a:solidFill>
                  <a:srgbClr val="375523"/>
                </a:solidFill>
                <a:latin typeface="Calibri"/>
                <a:ea typeface="Calibri"/>
                <a:cs typeface="Calibri"/>
                <a:sym typeface="Calibri"/>
              </a:rPr>
              <a:t>FIRST REVIEW PRESENTATION</a:t>
            </a:r>
            <a:endParaRPr sz="1800">
              <a:latin typeface="Calibri"/>
              <a:ea typeface="Calibri"/>
              <a:cs typeface="Calibri"/>
              <a:sym typeface="Calibri"/>
            </a:endParaRPr>
          </a:p>
        </p:txBody>
      </p:sp>
      <p:sp>
        <p:nvSpPr>
          <p:cNvPr id="89" name="Google Shape;89;p12"/>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p>
            <a:pPr indent="0" lvl="0" marL="77470" rtl="0" algn="l">
              <a:lnSpc>
                <a:spcPct val="100555"/>
              </a:lnSpc>
              <a:spcBef>
                <a:spcPts val="0"/>
              </a:spcBef>
              <a:spcAft>
                <a:spcPts val="0"/>
              </a:spcAft>
              <a:buNone/>
            </a:pPr>
            <a:fld id="{00000000-1234-1234-1234-123412341234}" type="slidenum">
              <a:rPr b="1" lang="en-US" sz="1800">
                <a:solidFill>
                  <a:srgbClr val="375523"/>
                </a:solidFill>
                <a:latin typeface="Calibri"/>
                <a:ea typeface="Calibri"/>
                <a:cs typeface="Calibri"/>
                <a:sym typeface="Calibri"/>
              </a:rPr>
              <a:t>‹#›</a:t>
            </a:fld>
            <a:endParaRPr sz="1800">
              <a:latin typeface="Calibri"/>
              <a:ea typeface="Calibri"/>
              <a:cs typeface="Calibri"/>
              <a:sym typeface="Calibri"/>
            </a:endParaRPr>
          </a:p>
        </p:txBody>
      </p:sp>
      <p:sp>
        <p:nvSpPr>
          <p:cNvPr id="90" name="Google Shape;90;p12"/>
          <p:cNvSpPr txBox="1"/>
          <p:nvPr>
            <p:ph type="title"/>
          </p:nvPr>
        </p:nvSpPr>
        <p:spPr>
          <a:xfrm>
            <a:off x="2284015" y="240908"/>
            <a:ext cx="7623968" cy="391159"/>
          </a:xfrm>
          <a:prstGeom prst="rect">
            <a:avLst/>
          </a:prstGeom>
          <a:noFill/>
          <a:ln>
            <a:noFill/>
          </a:ln>
        </p:spPr>
        <p:txBody>
          <a:bodyPr anchorCtr="0" anchor="t" bIns="0" lIns="0" spcFirstLastPara="1" rIns="0" wrap="square" tIns="12700">
            <a:spAutoFit/>
          </a:bodyPr>
          <a:lstStyle/>
          <a:p>
            <a:pPr indent="0" lvl="0" marL="1554480" rtl="0" algn="l">
              <a:lnSpc>
                <a:spcPct val="100000"/>
              </a:lnSpc>
              <a:spcBef>
                <a:spcPts val="0"/>
              </a:spcBef>
              <a:spcAft>
                <a:spcPts val="0"/>
              </a:spcAft>
              <a:buNone/>
            </a:pPr>
            <a:r>
              <a:rPr lang="en-US">
                <a:solidFill>
                  <a:srgbClr val="2F5496"/>
                </a:solidFill>
              </a:rPr>
              <a:t>NEED FOR THE CURRENT STUDY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 name="Shape 94"/>
        <p:cNvGrpSpPr/>
        <p:nvPr/>
      </p:nvGrpSpPr>
      <p:grpSpPr>
        <a:xfrm>
          <a:off x="0" y="0"/>
          <a:ext cx="0" cy="0"/>
          <a:chOff x="0" y="0"/>
          <a:chExt cx="0" cy="0"/>
        </a:xfrm>
      </p:grpSpPr>
      <p:sp>
        <p:nvSpPr>
          <p:cNvPr id="95" name="Google Shape;95;p13"/>
          <p:cNvSpPr txBox="1"/>
          <p:nvPr>
            <p:ph type="title"/>
          </p:nvPr>
        </p:nvSpPr>
        <p:spPr>
          <a:xfrm>
            <a:off x="2284015" y="240908"/>
            <a:ext cx="7623900" cy="391200"/>
          </a:xfrm>
          <a:prstGeom prst="rect">
            <a:avLst/>
          </a:prstGeom>
          <a:noFill/>
          <a:ln>
            <a:noFill/>
          </a:ln>
        </p:spPr>
        <p:txBody>
          <a:bodyPr anchorCtr="0" anchor="t" bIns="0" lIns="0" spcFirstLastPara="1" rIns="0" wrap="square" tIns="12700">
            <a:spAutoFit/>
          </a:bodyPr>
          <a:lstStyle/>
          <a:p>
            <a:pPr indent="0" lvl="0" marL="945514" rtl="0" algn="l">
              <a:lnSpc>
                <a:spcPct val="100000"/>
              </a:lnSpc>
              <a:spcBef>
                <a:spcPts val="0"/>
              </a:spcBef>
              <a:spcAft>
                <a:spcPts val="0"/>
              </a:spcAft>
              <a:buNone/>
            </a:pPr>
            <a:r>
              <a:rPr lang="en-US">
                <a:solidFill>
                  <a:srgbClr val="2F5496"/>
                </a:solidFill>
              </a:rPr>
              <a:t>PROPOSED METHODOLOGY ( Flow Chart)</a:t>
            </a:r>
            <a:endParaRPr/>
          </a:p>
        </p:txBody>
      </p:sp>
      <p:sp>
        <p:nvSpPr>
          <p:cNvPr id="96" name="Google Shape;96;p13"/>
          <p:cNvSpPr txBox="1"/>
          <p:nvPr>
            <p:ph idx="10" type="dt"/>
          </p:nvPr>
        </p:nvSpPr>
        <p:spPr>
          <a:xfrm>
            <a:off x="911225" y="6435725"/>
            <a:ext cx="1090800" cy="4632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12700" rtl="0" algn="l">
              <a:lnSpc>
                <a:spcPct val="103333"/>
              </a:lnSpc>
              <a:spcBef>
                <a:spcPts val="0"/>
              </a:spcBef>
              <a:spcAft>
                <a:spcPts val="0"/>
              </a:spcAft>
              <a:buNone/>
            </a:pPr>
            <a:r>
              <a:t/>
            </a:r>
            <a:endParaRPr b="0" sz="1200">
              <a:solidFill>
                <a:srgbClr val="888888"/>
              </a:solidFill>
            </a:endParaRPr>
          </a:p>
        </p:txBody>
      </p:sp>
      <p:sp>
        <p:nvSpPr>
          <p:cNvPr id="97" name="Google Shape;97;p13"/>
          <p:cNvSpPr txBox="1"/>
          <p:nvPr>
            <p:ph idx="11" type="ftr"/>
          </p:nvPr>
        </p:nvSpPr>
        <p:spPr>
          <a:xfrm>
            <a:off x="5172732" y="6466776"/>
            <a:ext cx="1845300" cy="1779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FIRST REVIEW PRESENTATION</a:t>
            </a:r>
            <a:endParaRPr/>
          </a:p>
        </p:txBody>
      </p:sp>
      <p:sp>
        <p:nvSpPr>
          <p:cNvPr id="98" name="Google Shape;98;p13"/>
          <p:cNvSpPr txBox="1"/>
          <p:nvPr>
            <p:ph idx="12" type="sldNum"/>
          </p:nvPr>
        </p:nvSpPr>
        <p:spPr>
          <a:xfrm>
            <a:off x="11075491" y="6435725"/>
            <a:ext cx="244500" cy="254100"/>
          </a:xfrm>
          <a:prstGeom prst="rect">
            <a:avLst/>
          </a:prstGeom>
          <a:noFill/>
          <a:ln>
            <a:noFill/>
          </a:ln>
        </p:spPr>
        <p:txBody>
          <a:bodyPr anchorCtr="0" anchor="t" bIns="0" lIns="0" spcFirstLastPara="1" rIns="0" wrap="square" tIns="0">
            <a:spAutoFit/>
          </a:bodyPr>
          <a:lstStyle/>
          <a:p>
            <a:pPr indent="0" lvl="0" marL="115570" rtl="0" algn="l">
              <a:lnSpc>
                <a:spcPct val="103333"/>
              </a:lnSpc>
              <a:spcBef>
                <a:spcPts val="0"/>
              </a:spcBef>
              <a:spcAft>
                <a:spcPts val="0"/>
              </a:spcAft>
              <a:buNone/>
            </a:pPr>
            <a:fld id="{00000000-1234-1234-1234-123412341234}" type="slidenum">
              <a:rPr lang="en-US"/>
              <a:t>‹#›</a:t>
            </a:fld>
            <a:endParaRPr/>
          </a:p>
        </p:txBody>
      </p:sp>
      <p:pic>
        <p:nvPicPr>
          <p:cNvPr id="99" name="Google Shape;99;p13" title="Screenshot 2026-03-05 161910.png"/>
          <p:cNvPicPr preferRelativeResize="0"/>
          <p:nvPr/>
        </p:nvPicPr>
        <p:blipFill>
          <a:blip r:embed="rId3">
            <a:alphaModFix/>
          </a:blip>
          <a:stretch>
            <a:fillRect/>
          </a:stretch>
        </p:blipFill>
        <p:spPr>
          <a:xfrm>
            <a:off x="4043016" y="591742"/>
            <a:ext cx="3052421" cy="59211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 name="Shape 103"/>
        <p:cNvGrpSpPr/>
        <p:nvPr/>
      </p:nvGrpSpPr>
      <p:grpSpPr>
        <a:xfrm>
          <a:off x="0" y="0"/>
          <a:ext cx="0" cy="0"/>
          <a:chOff x="0" y="0"/>
          <a:chExt cx="0" cy="0"/>
        </a:xfrm>
      </p:grpSpPr>
      <p:sp>
        <p:nvSpPr>
          <p:cNvPr id="104" name="Google Shape;104;p14"/>
          <p:cNvSpPr txBox="1"/>
          <p:nvPr>
            <p:ph type="title"/>
          </p:nvPr>
        </p:nvSpPr>
        <p:spPr>
          <a:xfrm>
            <a:off x="2284015" y="240908"/>
            <a:ext cx="7623968" cy="391159"/>
          </a:xfrm>
          <a:prstGeom prst="rect">
            <a:avLst/>
          </a:prstGeom>
          <a:noFill/>
          <a:ln>
            <a:noFill/>
          </a:ln>
        </p:spPr>
        <p:txBody>
          <a:bodyPr anchorCtr="0" anchor="t" bIns="0" lIns="0" spcFirstLastPara="1" rIns="0" wrap="square" tIns="12700">
            <a:spAutoFit/>
          </a:bodyPr>
          <a:lstStyle/>
          <a:p>
            <a:pPr indent="0" lvl="0" marL="897889" rtl="0" algn="l">
              <a:lnSpc>
                <a:spcPct val="100000"/>
              </a:lnSpc>
              <a:spcBef>
                <a:spcPts val="0"/>
              </a:spcBef>
              <a:spcAft>
                <a:spcPts val="0"/>
              </a:spcAft>
              <a:buNone/>
            </a:pPr>
            <a:r>
              <a:rPr lang="en-US">
                <a:solidFill>
                  <a:srgbClr val="2F5496"/>
                </a:solidFill>
              </a:rPr>
              <a:t>PROPOSED METHODOLOGY ( Gantt Chart)</a:t>
            </a:r>
            <a:endParaRPr/>
          </a:p>
        </p:txBody>
      </p:sp>
      <p:sp>
        <p:nvSpPr>
          <p:cNvPr id="105" name="Google Shape;105;p14"/>
          <p:cNvSpPr txBox="1"/>
          <p:nvPr>
            <p:ph idx="10" type="dt"/>
          </p:nvPr>
        </p:nvSpPr>
        <p:spPr>
          <a:xfrm>
            <a:off x="911225" y="6435725"/>
            <a:ext cx="1090800" cy="4632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12700" rtl="0" algn="l">
              <a:lnSpc>
                <a:spcPct val="103333"/>
              </a:lnSpc>
              <a:spcBef>
                <a:spcPts val="0"/>
              </a:spcBef>
              <a:spcAft>
                <a:spcPts val="0"/>
              </a:spcAft>
              <a:buNone/>
            </a:pPr>
            <a:r>
              <a:t/>
            </a:r>
            <a:endParaRPr b="0" sz="1200">
              <a:solidFill>
                <a:srgbClr val="888888"/>
              </a:solidFill>
            </a:endParaRPr>
          </a:p>
        </p:txBody>
      </p:sp>
      <p:sp>
        <p:nvSpPr>
          <p:cNvPr id="106" name="Google Shape;106;p14"/>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FIRST REVIEW PRESENTATION</a:t>
            </a:r>
            <a:endParaRPr/>
          </a:p>
        </p:txBody>
      </p:sp>
      <p:sp>
        <p:nvSpPr>
          <p:cNvPr id="107" name="Google Shape;107;p14"/>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p>
            <a:pPr indent="0" lvl="0" marL="115570" rtl="0" algn="l">
              <a:lnSpc>
                <a:spcPct val="103333"/>
              </a:lnSpc>
              <a:spcBef>
                <a:spcPts val="0"/>
              </a:spcBef>
              <a:spcAft>
                <a:spcPts val="0"/>
              </a:spcAft>
              <a:buNone/>
            </a:pPr>
            <a:fld id="{00000000-1234-1234-1234-123412341234}" type="slidenum">
              <a:rPr lang="en-US"/>
              <a:t>‹#›</a:t>
            </a:fld>
            <a:endParaRPr/>
          </a:p>
        </p:txBody>
      </p:sp>
      <p:pic>
        <p:nvPicPr>
          <p:cNvPr id="108" name="Google Shape;108;p14"/>
          <p:cNvPicPr preferRelativeResize="0"/>
          <p:nvPr/>
        </p:nvPicPr>
        <p:blipFill>
          <a:blip r:embed="rId3">
            <a:alphaModFix/>
          </a:blip>
          <a:stretch>
            <a:fillRect/>
          </a:stretch>
        </p:blipFill>
        <p:spPr>
          <a:xfrm>
            <a:off x="1814300" y="825400"/>
            <a:ext cx="9175999" cy="52230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911225" y="797050"/>
            <a:ext cx="10162500" cy="4549500"/>
          </a:xfrm>
          <a:prstGeom prst="rect">
            <a:avLst/>
          </a:prstGeom>
          <a:noFill/>
          <a:ln>
            <a:noFill/>
          </a:ln>
        </p:spPr>
        <p:txBody>
          <a:bodyPr anchorCtr="0" anchor="t" bIns="0" lIns="0" spcFirstLastPara="1" rIns="0" wrap="square" tIns="97150">
            <a:spAutoFit/>
          </a:bodyPr>
          <a:lstStyle/>
          <a:p>
            <a:pPr indent="0" lvl="0" marL="0" rtl="0" algn="l">
              <a:lnSpc>
                <a:spcPct val="115000"/>
              </a:lnSpc>
              <a:spcBef>
                <a:spcPts val="1200"/>
              </a:spcBef>
              <a:spcAft>
                <a:spcPts val="0"/>
              </a:spcAft>
              <a:buNone/>
            </a:pPr>
            <a:r>
              <a:rPr b="1" lang="en-US" sz="2400">
                <a:solidFill>
                  <a:schemeClr val="dk1"/>
                </a:solidFill>
              </a:rPr>
              <a:t>Software &amp; Tools</a:t>
            </a:r>
            <a:endParaRPr b="1" sz="2400">
              <a:solidFill>
                <a:schemeClr val="dk1"/>
              </a:solidFill>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Streamlit</a:t>
            </a:r>
            <a:r>
              <a:rPr lang="en-US" sz="2000">
                <a:solidFill>
                  <a:schemeClr val="dk1"/>
                </a:solidFill>
              </a:rPr>
              <a:t> – Interactive web dashboard</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NLTK, Scikit-learn</a:t>
            </a:r>
            <a:r>
              <a:rPr lang="en-US" sz="2000">
                <a:solidFill>
                  <a:schemeClr val="dk1"/>
                </a:solidFill>
              </a:rPr>
              <a:t> – NLP preprocessing &amp; analysis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PyPDF2</a:t>
            </a:r>
            <a:r>
              <a:rPr lang="en-US" sz="2000">
                <a:solidFill>
                  <a:schemeClr val="dk1"/>
                </a:solidFill>
              </a:rPr>
              <a:t> – Extract text from PDF resumes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Groq API + Llama 3.1</a:t>
            </a:r>
            <a:r>
              <a:rPr lang="en-US" sz="2000">
                <a:solidFill>
                  <a:schemeClr val="dk1"/>
                </a:solidFill>
              </a:rPr>
              <a:t> – AI resume evaluation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Plotly / Altair</a:t>
            </a:r>
            <a:r>
              <a:rPr lang="en-US" sz="2000">
                <a:solidFill>
                  <a:schemeClr val="dk1"/>
                </a:solidFill>
              </a:rPr>
              <a:t> – Data visualization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FPDF2</a:t>
            </a:r>
            <a:r>
              <a:rPr lang="en-US" sz="2000">
                <a:solidFill>
                  <a:schemeClr val="dk1"/>
                </a:solidFill>
              </a:rPr>
              <a:t> – Generate candidate reports</a:t>
            </a:r>
            <a:endParaRPr sz="2000">
              <a:solidFill>
                <a:schemeClr val="dk1"/>
              </a:solidFill>
            </a:endParaRPr>
          </a:p>
          <a:p>
            <a:pPr indent="0" lvl="0" marL="0" rtl="0" algn="l">
              <a:lnSpc>
                <a:spcPct val="115000"/>
              </a:lnSpc>
              <a:spcBef>
                <a:spcPts val="1200"/>
              </a:spcBef>
              <a:spcAft>
                <a:spcPts val="0"/>
              </a:spcAft>
              <a:buNone/>
            </a:pPr>
            <a:r>
              <a:rPr b="1" lang="en-US" sz="2400">
                <a:solidFill>
                  <a:schemeClr val="dk1"/>
                </a:solidFill>
              </a:rPr>
              <a:t>Algorithms / Methods</a:t>
            </a:r>
            <a:endParaRPr b="1" sz="2400">
              <a:solidFill>
                <a:schemeClr val="dk1"/>
              </a:solidFill>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TF-IDF</a:t>
            </a:r>
            <a:r>
              <a:rPr lang="en-US" sz="2000">
                <a:solidFill>
                  <a:schemeClr val="dk1"/>
                </a:solidFill>
              </a:rPr>
              <a:t> – Word importance weightin</a:t>
            </a:r>
            <a:r>
              <a:rPr lang="en-US" sz="2000">
                <a:solidFill>
                  <a:schemeClr val="dk1"/>
                </a:solidFill>
              </a:rPr>
              <a:t>g</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Cosine Similarity</a:t>
            </a:r>
            <a:r>
              <a:rPr lang="en-US" sz="2000">
                <a:solidFill>
                  <a:schemeClr val="dk1"/>
                </a:solidFill>
              </a:rPr>
              <a:t> – Resume–job matching score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NER &amp; Regex</a:t>
            </a:r>
            <a:r>
              <a:rPr lang="en-US" sz="2000">
                <a:solidFill>
                  <a:schemeClr val="dk1"/>
                </a:solidFill>
              </a:rPr>
              <a:t> – Extract skills and key information</a:t>
            </a:r>
            <a:endParaRPr sz="2000">
              <a:latin typeface="Calibri"/>
              <a:ea typeface="Calibri"/>
              <a:cs typeface="Calibri"/>
              <a:sym typeface="Calibri"/>
            </a:endParaRPr>
          </a:p>
        </p:txBody>
      </p:sp>
      <p:sp>
        <p:nvSpPr>
          <p:cNvPr id="114" name="Google Shape;114;p15"/>
          <p:cNvSpPr txBox="1"/>
          <p:nvPr>
            <p:ph idx="10" type="dt"/>
          </p:nvPr>
        </p:nvSpPr>
        <p:spPr>
          <a:xfrm>
            <a:off x="911225" y="6435725"/>
            <a:ext cx="1090800" cy="4632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12700" rtl="0" algn="l">
              <a:lnSpc>
                <a:spcPct val="103333"/>
              </a:lnSpc>
              <a:spcBef>
                <a:spcPts val="0"/>
              </a:spcBef>
              <a:spcAft>
                <a:spcPts val="0"/>
              </a:spcAft>
              <a:buNone/>
            </a:pPr>
            <a:r>
              <a:t/>
            </a:r>
            <a:endParaRPr b="0" sz="1200">
              <a:solidFill>
                <a:srgbClr val="888888"/>
              </a:solidFill>
            </a:endParaRPr>
          </a:p>
        </p:txBody>
      </p:sp>
      <p:sp>
        <p:nvSpPr>
          <p:cNvPr id="115" name="Google Shape;115;p15"/>
          <p:cNvSpPr txBox="1"/>
          <p:nvPr/>
        </p:nvSpPr>
        <p:spPr>
          <a:xfrm>
            <a:off x="5289382" y="6575050"/>
            <a:ext cx="19221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FIRST REVIEW PRESENTATION9</a:t>
            </a:r>
            <a:endParaRPr sz="1200">
              <a:latin typeface="Calibri"/>
              <a:ea typeface="Calibri"/>
              <a:cs typeface="Calibri"/>
              <a:sym typeface="Calibri"/>
            </a:endParaRPr>
          </a:p>
        </p:txBody>
      </p:sp>
      <p:sp>
        <p:nvSpPr>
          <p:cNvPr id="116" name="Google Shape;116;p15"/>
          <p:cNvSpPr txBox="1"/>
          <p:nvPr>
            <p:ph type="title"/>
          </p:nvPr>
        </p:nvSpPr>
        <p:spPr>
          <a:xfrm>
            <a:off x="1449015" y="76316"/>
            <a:ext cx="9288900" cy="423900"/>
          </a:xfrm>
          <a:prstGeom prst="rect">
            <a:avLst/>
          </a:prstGeom>
          <a:noFill/>
          <a:ln>
            <a:noFill/>
          </a:ln>
        </p:spPr>
        <p:txBody>
          <a:bodyPr anchorCtr="0" anchor="t" bIns="0" lIns="0" spcFirstLastPara="1" rIns="0" wrap="square" tIns="53975">
            <a:spAutoFit/>
          </a:bodyPr>
          <a:lstStyle/>
          <a:p>
            <a:pPr indent="-1209040" lvl="0" marL="1221105" marR="5080" rtl="0" algn="l">
              <a:lnSpc>
                <a:spcPct val="107916"/>
              </a:lnSpc>
              <a:spcBef>
                <a:spcPts val="0"/>
              </a:spcBef>
              <a:spcAft>
                <a:spcPts val="0"/>
              </a:spcAft>
              <a:buNone/>
            </a:pPr>
            <a:r>
              <a:rPr lang="en-US">
                <a:solidFill>
                  <a:srgbClr val="2F5496"/>
                </a:solidFill>
              </a:rPr>
              <a:t>Components &amp; Technologies Used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nvSpPr>
        <p:spPr>
          <a:xfrm>
            <a:off x="964546" y="668564"/>
            <a:ext cx="8855700" cy="5731800"/>
          </a:xfrm>
          <a:prstGeom prst="rect">
            <a:avLst/>
          </a:prstGeom>
          <a:noFill/>
          <a:ln>
            <a:noFill/>
          </a:ln>
        </p:spPr>
        <p:txBody>
          <a:bodyPr anchorCtr="0" anchor="t" bIns="0" lIns="0" spcFirstLastPara="1" rIns="0" wrap="square" tIns="97150">
            <a:spAutoFit/>
          </a:bodyPr>
          <a:lstStyle/>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rPr>
              <a:t>Software Architecture – Three-Tier Design</a:t>
            </a:r>
            <a:endParaRPr b="1" sz="2000">
              <a:solidFill>
                <a:schemeClr val="dk1"/>
              </a:solidFill>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Presentation Layer (Streamlit):</a:t>
            </a:r>
            <a:r>
              <a:rPr lang="en-US" sz="2000">
                <a:solidFill>
                  <a:schemeClr val="dk1"/>
                </a:solidFill>
              </a:rPr>
              <a:t> Handles UI including file upload, job description input, filters, and result visualizations (charts, tables, KPI cards).</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Business Logic Layer (Python Backend):</a:t>
            </a:r>
            <a:r>
              <a:rPr lang="en-US" sz="2000">
                <a:solidFill>
                  <a:schemeClr val="dk1"/>
                </a:solidFill>
              </a:rPr>
              <a:t> Manages text extraction, resume analysis, similarity calculation, and AI integration with Groq API.</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Data Processing Layer (NLP Engine):</a:t>
            </a:r>
            <a:r>
              <a:rPr lang="en-US" sz="2000">
                <a:solidFill>
                  <a:schemeClr val="dk1"/>
                </a:solidFill>
              </a:rPr>
              <a:t> Performs text preprocessing, TF-IDF feature extraction, and cosine similarity for resume–job matching.</a:t>
            </a:r>
            <a:br>
              <a:rPr lang="en-US" sz="2000">
                <a:solidFill>
                  <a:schemeClr val="dk1"/>
                </a:solidFill>
              </a:rPr>
            </a:b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Skill Analysis:</a:t>
            </a:r>
            <a:r>
              <a:rPr lang="en-US" sz="2000">
                <a:solidFill>
                  <a:schemeClr val="dk1"/>
                </a:solidFill>
              </a:rPr>
              <a:t> Uses a taxonomy of </a:t>
            </a:r>
            <a:r>
              <a:rPr b="1" lang="en-US" sz="2000">
                <a:solidFill>
                  <a:schemeClr val="dk1"/>
                </a:solidFill>
              </a:rPr>
              <a:t>100+ technical skills</a:t>
            </a:r>
            <a:r>
              <a:rPr lang="en-US" sz="2000">
                <a:solidFill>
                  <a:schemeClr val="dk1"/>
                </a:solidFill>
              </a:rPr>
              <a:t> for candidate evaluation.</a:t>
            </a:r>
            <a:br>
              <a:rPr lang="en-US" sz="2000">
                <a:solidFill>
                  <a:schemeClr val="dk1"/>
                </a:solidFill>
              </a:rPr>
            </a:br>
            <a:endParaRPr sz="2000">
              <a:solidFill>
                <a:schemeClr val="dk1"/>
              </a:solidFill>
            </a:endParaRPr>
          </a:p>
          <a:p>
            <a:pPr indent="0" lvl="0" marL="457200" rtl="0" algn="l">
              <a:lnSpc>
                <a:spcPct val="100000"/>
              </a:lnSpc>
              <a:spcBef>
                <a:spcPts val="1200"/>
              </a:spcBef>
              <a:spcAft>
                <a:spcPts val="0"/>
              </a:spcAft>
              <a:buNone/>
            </a:pPr>
            <a:r>
              <a:t/>
            </a:r>
            <a:endParaRPr b="1" sz="2400">
              <a:latin typeface="Calibri"/>
              <a:ea typeface="Calibri"/>
              <a:cs typeface="Calibri"/>
              <a:sym typeface="Calibri"/>
            </a:endParaRPr>
          </a:p>
        </p:txBody>
      </p:sp>
      <p:sp>
        <p:nvSpPr>
          <p:cNvPr id="122" name="Google Shape;122;p16"/>
          <p:cNvSpPr txBox="1"/>
          <p:nvPr>
            <p:ph idx="10" type="dt"/>
          </p:nvPr>
        </p:nvSpPr>
        <p:spPr>
          <a:xfrm>
            <a:off x="911225" y="6435725"/>
            <a:ext cx="1090800" cy="4632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12700" rtl="0" algn="l">
              <a:lnSpc>
                <a:spcPct val="103333"/>
              </a:lnSpc>
              <a:spcBef>
                <a:spcPts val="0"/>
              </a:spcBef>
              <a:spcAft>
                <a:spcPts val="0"/>
              </a:spcAft>
              <a:buNone/>
            </a:pPr>
            <a:r>
              <a:t/>
            </a:r>
            <a:endParaRPr b="0" sz="1200">
              <a:solidFill>
                <a:srgbClr val="888888"/>
              </a:solidFill>
            </a:endParaRPr>
          </a:p>
        </p:txBody>
      </p:sp>
      <p:sp>
        <p:nvSpPr>
          <p:cNvPr id="123" name="Google Shape;123;p16"/>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FIRST REVIEW PRESENTATION</a:t>
            </a:r>
            <a:endParaRPr/>
          </a:p>
        </p:txBody>
      </p:sp>
      <p:sp>
        <p:nvSpPr>
          <p:cNvPr id="124" name="Google Shape;124;p16"/>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125" name="Google Shape;125;p16"/>
          <p:cNvSpPr txBox="1"/>
          <p:nvPr>
            <p:ph type="title"/>
          </p:nvPr>
        </p:nvSpPr>
        <p:spPr>
          <a:xfrm>
            <a:off x="2284015" y="240908"/>
            <a:ext cx="7623968" cy="39115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rgbClr val="2F5496"/>
                </a:solidFill>
              </a:rPr>
              <a:t>DESIGN(S) (HARDWARE / SOFTWARE ARCHITECTURE)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7"/>
          <p:cNvSpPr txBox="1"/>
          <p:nvPr/>
        </p:nvSpPr>
        <p:spPr>
          <a:xfrm>
            <a:off x="819041" y="668575"/>
            <a:ext cx="10553100" cy="5043000"/>
          </a:xfrm>
          <a:prstGeom prst="rect">
            <a:avLst/>
          </a:prstGeom>
          <a:noFill/>
          <a:ln>
            <a:noFill/>
          </a:ln>
        </p:spPr>
        <p:txBody>
          <a:bodyPr anchorCtr="0" anchor="t" bIns="0" lIns="0" spcFirstLastPara="1" rIns="0" wrap="square" tIns="97150">
            <a:spAutoFit/>
          </a:bodyPr>
          <a:lstStyle/>
          <a:p>
            <a:pPr indent="0" lvl="0" marL="104775" rtl="0" algn="l">
              <a:lnSpc>
                <a:spcPct val="100000"/>
              </a:lnSpc>
              <a:spcBef>
                <a:spcPts val="0"/>
              </a:spcBef>
              <a:spcAft>
                <a:spcPts val="0"/>
              </a:spcAft>
              <a:buNone/>
            </a:pPr>
            <a:r>
              <a:rPr b="1" lang="en-US" sz="2800">
                <a:solidFill>
                  <a:srgbClr val="C00000"/>
                </a:solidFill>
                <a:latin typeface="Calibri"/>
                <a:ea typeface="Calibri"/>
                <a:cs typeface="Calibri"/>
                <a:sym typeface="Calibri"/>
              </a:rPr>
              <a:t>Batch Member 1 : ( Reg No</a:t>
            </a:r>
            <a:r>
              <a:rPr b="1" lang="en-US" sz="2800">
                <a:solidFill>
                  <a:srgbClr val="C00000"/>
                </a:solidFill>
                <a:latin typeface="Arial"/>
                <a:ea typeface="Arial"/>
                <a:cs typeface="Arial"/>
                <a:sym typeface="Arial"/>
              </a:rPr>
              <a:t>… </a:t>
            </a:r>
            <a:r>
              <a:rPr b="1" lang="en-US" sz="2800">
                <a:solidFill>
                  <a:srgbClr val="C00000"/>
                </a:solidFill>
                <a:latin typeface="Calibri"/>
                <a:ea typeface="Calibri"/>
                <a:cs typeface="Calibri"/>
                <a:sym typeface="Calibri"/>
              </a:rPr>
              <a:t>&amp; Name )</a:t>
            </a:r>
            <a:endParaRPr sz="2800">
              <a:latin typeface="Calibri"/>
              <a:ea typeface="Calibri"/>
              <a:cs typeface="Calibri"/>
              <a:sym typeface="Calibri"/>
            </a:endParaRPr>
          </a:p>
          <a:p>
            <a:pPr indent="0" lvl="0" marL="457200" rtl="0" algn="l">
              <a:lnSpc>
                <a:spcPct val="100000"/>
              </a:lnSpc>
              <a:spcBef>
                <a:spcPts val="665"/>
              </a:spcBef>
              <a:spcAft>
                <a:spcPts val="0"/>
              </a:spcAft>
              <a:buNone/>
            </a:pPr>
            <a:r>
              <a:rPr b="1" lang="en-US" sz="2000">
                <a:latin typeface="Calibri"/>
                <a:ea typeface="Calibri"/>
                <a:cs typeface="Calibri"/>
                <a:sym typeface="Calibri"/>
              </a:rPr>
              <a:t>Full-Stack Development:</a:t>
            </a:r>
            <a:r>
              <a:rPr lang="en-US" sz="2000">
                <a:latin typeface="Calibri"/>
                <a:ea typeface="Calibri"/>
                <a:cs typeface="Calibri"/>
                <a:sym typeface="Calibri"/>
              </a:rPr>
              <a:t> Single-handedly developed entire application architecture including Streamlit frontend (UI/UX, dashboards, visualizations) and Python backend (NLP engine, PDF processing, AI integration) </a:t>
            </a:r>
            <a:endParaRPr sz="2000">
              <a:latin typeface="Calibri"/>
              <a:ea typeface="Calibri"/>
              <a:cs typeface="Calibri"/>
              <a:sym typeface="Calibri"/>
            </a:endParaRPr>
          </a:p>
          <a:p>
            <a:pPr indent="0" lvl="0" marL="457200" rtl="0" algn="l">
              <a:lnSpc>
                <a:spcPct val="100000"/>
              </a:lnSpc>
              <a:spcBef>
                <a:spcPts val="665"/>
              </a:spcBef>
              <a:spcAft>
                <a:spcPts val="0"/>
              </a:spcAft>
              <a:buNone/>
            </a:pPr>
            <a:r>
              <a:rPr b="1" lang="en-US" sz="2000">
                <a:latin typeface="Calibri"/>
                <a:ea typeface="Calibri"/>
                <a:cs typeface="Calibri"/>
                <a:sym typeface="Calibri"/>
              </a:rPr>
              <a:t>Core Algorithms</a:t>
            </a:r>
            <a:r>
              <a:rPr lang="en-US" sz="2000">
                <a:latin typeface="Calibri"/>
                <a:ea typeface="Calibri"/>
                <a:cs typeface="Calibri"/>
                <a:sym typeface="Calibri"/>
              </a:rPr>
              <a:t>: Implemented TF-IDF vectorization, Cosine Similarity matching, semantic skill extraction, and bias detection algorithms in utils.py </a:t>
            </a:r>
            <a:endParaRPr sz="2000">
              <a:latin typeface="Calibri"/>
              <a:ea typeface="Calibri"/>
              <a:cs typeface="Calibri"/>
              <a:sym typeface="Calibri"/>
            </a:endParaRPr>
          </a:p>
          <a:p>
            <a:pPr indent="0" lvl="0" marL="457200" rtl="0" algn="l">
              <a:lnSpc>
                <a:spcPct val="100000"/>
              </a:lnSpc>
              <a:spcBef>
                <a:spcPts val="665"/>
              </a:spcBef>
              <a:spcAft>
                <a:spcPts val="0"/>
              </a:spcAft>
              <a:buNone/>
            </a:pPr>
            <a:r>
              <a:rPr b="1" lang="en-US" sz="2000">
                <a:latin typeface="Calibri"/>
                <a:ea typeface="Calibri"/>
                <a:cs typeface="Calibri"/>
                <a:sym typeface="Calibri"/>
              </a:rPr>
              <a:t>AI Integration:</a:t>
            </a:r>
            <a:r>
              <a:rPr lang="en-US" sz="2000">
                <a:latin typeface="Calibri"/>
                <a:ea typeface="Calibri"/>
                <a:cs typeface="Calibri"/>
                <a:sym typeface="Calibri"/>
              </a:rPr>
              <a:t> Integrated Groq API with Llama 3.1 for automated resume evaluation, SWOT analysis, and ATS scoring </a:t>
            </a:r>
            <a:endParaRPr sz="2000">
              <a:latin typeface="Calibri"/>
              <a:ea typeface="Calibri"/>
              <a:cs typeface="Calibri"/>
              <a:sym typeface="Calibri"/>
            </a:endParaRPr>
          </a:p>
          <a:p>
            <a:pPr indent="0" lvl="0" marL="457200" rtl="0" algn="l">
              <a:lnSpc>
                <a:spcPct val="100000"/>
              </a:lnSpc>
              <a:spcBef>
                <a:spcPts val="665"/>
              </a:spcBef>
              <a:spcAft>
                <a:spcPts val="0"/>
              </a:spcAft>
              <a:buNone/>
            </a:pPr>
            <a:r>
              <a:rPr b="1" lang="en-US" sz="2000">
                <a:latin typeface="Calibri"/>
                <a:ea typeface="Calibri"/>
                <a:cs typeface="Calibri"/>
                <a:sym typeface="Calibri"/>
              </a:rPr>
              <a:t>System Features:</a:t>
            </a:r>
            <a:r>
              <a:rPr lang="en-US" sz="2000">
                <a:latin typeface="Calibri"/>
                <a:ea typeface="Calibri"/>
                <a:cs typeface="Calibri"/>
                <a:sym typeface="Calibri"/>
              </a:rPr>
              <a:t> Built real-time filtering, executive PDF reporting, CSV/JSON export, session management, and neural glassmorphism UI design </a:t>
            </a:r>
            <a:endParaRPr sz="2000">
              <a:latin typeface="Calibri"/>
              <a:ea typeface="Calibri"/>
              <a:cs typeface="Calibri"/>
              <a:sym typeface="Calibri"/>
            </a:endParaRPr>
          </a:p>
          <a:p>
            <a:pPr indent="0" lvl="0" marL="457200" rtl="0" algn="l">
              <a:lnSpc>
                <a:spcPct val="100000"/>
              </a:lnSpc>
              <a:spcBef>
                <a:spcPts val="665"/>
              </a:spcBef>
              <a:spcAft>
                <a:spcPts val="0"/>
              </a:spcAft>
              <a:buNone/>
            </a:pPr>
            <a:r>
              <a:rPr b="1" lang="en-US" sz="2000">
                <a:latin typeface="Calibri"/>
                <a:ea typeface="Calibri"/>
                <a:cs typeface="Calibri"/>
                <a:sym typeface="Calibri"/>
              </a:rPr>
              <a:t>Quality Assurance</a:t>
            </a:r>
            <a:r>
              <a:rPr lang="en-US" sz="2000">
                <a:latin typeface="Calibri"/>
                <a:ea typeface="Calibri"/>
                <a:cs typeface="Calibri"/>
                <a:sym typeface="Calibri"/>
              </a:rPr>
              <a:t>: Created comprehensive PyTest suite, implemented secure secrets management, and authored all technical documentation </a:t>
            </a:r>
            <a:endParaRPr sz="2000">
              <a:latin typeface="Calibri"/>
              <a:ea typeface="Calibri"/>
              <a:cs typeface="Calibri"/>
              <a:sym typeface="Calibri"/>
            </a:endParaRPr>
          </a:p>
          <a:p>
            <a:pPr indent="0" lvl="0" marL="457200" rtl="0" algn="l">
              <a:lnSpc>
                <a:spcPct val="100000"/>
              </a:lnSpc>
              <a:spcBef>
                <a:spcPts val="665"/>
              </a:spcBef>
              <a:spcAft>
                <a:spcPts val="0"/>
              </a:spcAft>
              <a:buNone/>
            </a:pPr>
            <a:r>
              <a:rPr b="1" lang="en-US" sz="2000">
                <a:latin typeface="Calibri"/>
                <a:ea typeface="Calibri"/>
                <a:cs typeface="Calibri"/>
                <a:sym typeface="Calibri"/>
              </a:rPr>
              <a:t>Deployment:</a:t>
            </a:r>
            <a:r>
              <a:rPr lang="en-US" sz="2000">
                <a:latin typeface="Calibri"/>
                <a:ea typeface="Calibri"/>
                <a:cs typeface="Calibri"/>
                <a:sym typeface="Calibri"/>
              </a:rPr>
              <a:t> Configured cloud deployment pipeline and prepared submission deliverables (PROJECT_REPORT.md, VIVA_SCRIPT.md, DEPLOYMENT.md)</a:t>
            </a:r>
            <a:endParaRPr sz="2000">
              <a:latin typeface="Calibri"/>
              <a:ea typeface="Calibri"/>
              <a:cs typeface="Calibri"/>
              <a:sym typeface="Calibri"/>
            </a:endParaRPr>
          </a:p>
        </p:txBody>
      </p:sp>
      <p:sp>
        <p:nvSpPr>
          <p:cNvPr id="131" name="Google Shape;131;p17"/>
          <p:cNvSpPr txBox="1"/>
          <p:nvPr>
            <p:ph idx="10" type="dt"/>
          </p:nvPr>
        </p:nvSpPr>
        <p:spPr>
          <a:xfrm>
            <a:off x="911225" y="6435725"/>
            <a:ext cx="1090800" cy="4632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12700" rtl="0" algn="l">
              <a:lnSpc>
                <a:spcPct val="103333"/>
              </a:lnSpc>
              <a:spcBef>
                <a:spcPts val="0"/>
              </a:spcBef>
              <a:spcAft>
                <a:spcPts val="0"/>
              </a:spcAft>
              <a:buNone/>
            </a:pPr>
            <a:r>
              <a:t/>
            </a:r>
            <a:endParaRPr b="0" sz="1200">
              <a:solidFill>
                <a:srgbClr val="888888"/>
              </a:solidFill>
            </a:endParaRPr>
          </a:p>
        </p:txBody>
      </p:sp>
      <p:sp>
        <p:nvSpPr>
          <p:cNvPr id="132" name="Google Shape;132;p17"/>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FIRST REVIEW PRESENTATION</a:t>
            </a:r>
            <a:endParaRPr/>
          </a:p>
        </p:txBody>
      </p:sp>
      <p:sp>
        <p:nvSpPr>
          <p:cNvPr id="133" name="Google Shape;133;p17"/>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134" name="Google Shape;134;p17"/>
          <p:cNvSpPr txBox="1"/>
          <p:nvPr>
            <p:ph type="title"/>
          </p:nvPr>
        </p:nvSpPr>
        <p:spPr>
          <a:xfrm>
            <a:off x="2284015" y="240908"/>
            <a:ext cx="7623968" cy="391159"/>
          </a:xfrm>
          <a:prstGeom prst="rect">
            <a:avLst/>
          </a:prstGeom>
          <a:noFill/>
          <a:ln>
            <a:noFill/>
          </a:ln>
        </p:spPr>
        <p:txBody>
          <a:bodyPr anchorCtr="0" anchor="t" bIns="0" lIns="0" spcFirstLastPara="1" rIns="0" wrap="square" tIns="12700">
            <a:spAutoFit/>
          </a:bodyPr>
          <a:lstStyle/>
          <a:p>
            <a:pPr indent="0" lvl="0" marL="689610" rtl="0" algn="l">
              <a:lnSpc>
                <a:spcPct val="100000"/>
              </a:lnSpc>
              <a:spcBef>
                <a:spcPts val="0"/>
              </a:spcBef>
              <a:spcAft>
                <a:spcPts val="0"/>
              </a:spcAft>
              <a:buNone/>
            </a:pPr>
            <a:r>
              <a:rPr lang="en-US"/>
              <a:t>INDIVIDUAL CONTRIBUTIONS TO THE WORK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nvSpPr>
        <p:spPr>
          <a:xfrm>
            <a:off x="911225" y="1277125"/>
            <a:ext cx="10652100" cy="3877500"/>
          </a:xfrm>
          <a:prstGeom prst="rect">
            <a:avLst/>
          </a:prstGeom>
          <a:noFill/>
          <a:ln>
            <a:noFill/>
          </a:ln>
        </p:spPr>
        <p:txBody>
          <a:bodyPr anchorCtr="0" anchor="t" bIns="0" lIns="0" spcFirstLastPara="1" rIns="0" wrap="square" tIns="97150">
            <a:spAutoFit/>
          </a:bodyPr>
          <a:lstStyle/>
          <a:p>
            <a:pPr indent="-355600" lvl="0" marL="457200" rtl="0" algn="l">
              <a:spcBef>
                <a:spcPts val="665"/>
              </a:spcBef>
              <a:spcAft>
                <a:spcPts val="0"/>
              </a:spcAft>
              <a:buClr>
                <a:schemeClr val="dk1"/>
              </a:buClr>
              <a:buSzPts val="2000"/>
              <a:buChar char="●"/>
            </a:pPr>
            <a:r>
              <a:rPr lang="en-US" sz="2000">
                <a:solidFill>
                  <a:schemeClr val="dk1"/>
                </a:solidFill>
              </a:rPr>
              <a:t>Implement </a:t>
            </a:r>
            <a:r>
              <a:rPr b="1" lang="en-US" sz="2000">
                <a:solidFill>
                  <a:schemeClr val="dk1"/>
                </a:solidFill>
              </a:rPr>
              <a:t>Tesseract OCR</a:t>
            </a:r>
            <a:r>
              <a:rPr lang="en-US" sz="2000">
                <a:solidFill>
                  <a:schemeClr val="dk1"/>
                </a:solidFill>
              </a:rPr>
              <a:t> to process scanned or image-based resumes.</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Add </a:t>
            </a:r>
            <a:r>
              <a:rPr b="1" lang="en-US" sz="2000">
                <a:solidFill>
                  <a:schemeClr val="dk1"/>
                </a:solidFill>
              </a:rPr>
              <a:t>SQLite/PostgreSQL database</a:t>
            </a:r>
            <a:r>
              <a:rPr lang="en-US" sz="2000">
                <a:solidFill>
                  <a:schemeClr val="dk1"/>
                </a:solidFill>
              </a:rPr>
              <a:t> to store candidate data and history.</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Integrate </a:t>
            </a:r>
            <a:r>
              <a:rPr b="1" lang="en-US" sz="2000">
                <a:solidFill>
                  <a:schemeClr val="dk1"/>
                </a:solidFill>
              </a:rPr>
              <a:t>automated email notifications</a:t>
            </a:r>
            <a:r>
              <a:rPr lang="en-US" sz="2000">
                <a:solidFill>
                  <a:schemeClr val="dk1"/>
                </a:solidFill>
              </a:rPr>
              <a:t> for shortlisted candidates.</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Extend the NLP pipeline for </a:t>
            </a:r>
            <a:r>
              <a:rPr b="1" lang="en-US" sz="2000">
                <a:solidFill>
                  <a:schemeClr val="dk1"/>
                </a:solidFill>
              </a:rPr>
              <a:t>multi-language resumes (Hindi, Tamil)</a:t>
            </a:r>
            <a:r>
              <a:rPr lang="en-US" sz="2000">
                <a:solidFill>
                  <a:schemeClr val="dk1"/>
                </a:solidFill>
              </a:rPr>
              <a:t>.</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Optimize the system for </a:t>
            </a:r>
            <a:r>
              <a:rPr b="1" lang="en-US" sz="2000">
                <a:solidFill>
                  <a:schemeClr val="dk1"/>
                </a:solidFill>
              </a:rPr>
              <a:t>batch processing and mobile-friendly interface</a:t>
            </a:r>
            <a:r>
              <a:rPr lang="en-US" sz="2000">
                <a:solidFill>
                  <a:schemeClr val="dk1"/>
                </a:solidFill>
              </a:rPr>
              <a:t>.</a:t>
            </a:r>
            <a:br>
              <a:rPr lang="en-US" sz="2000">
                <a:solidFill>
                  <a:schemeClr val="dk1"/>
                </a:solidFill>
              </a:rPr>
            </a:br>
            <a:endParaRPr sz="2000">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Future improvement: </a:t>
            </a:r>
            <a:r>
              <a:rPr b="1" lang="en-US" sz="2000">
                <a:solidFill>
                  <a:schemeClr val="dk1"/>
                </a:solidFill>
              </a:rPr>
              <a:t>enhanced bias mitigation techniques</a:t>
            </a:r>
            <a:r>
              <a:rPr lang="en-US" sz="2000">
                <a:solidFill>
                  <a:schemeClr val="dk1"/>
                </a:solidFill>
              </a:rPr>
              <a:t> for fair evaluation.</a:t>
            </a:r>
            <a:endParaRPr sz="2000">
              <a:solidFill>
                <a:schemeClr val="dk1"/>
              </a:solidFill>
            </a:endParaRPr>
          </a:p>
          <a:p>
            <a:pPr indent="0" lvl="0" marL="0" rtl="0" algn="l">
              <a:lnSpc>
                <a:spcPct val="100000"/>
              </a:lnSpc>
              <a:spcBef>
                <a:spcPts val="665"/>
              </a:spcBef>
              <a:spcAft>
                <a:spcPts val="0"/>
              </a:spcAft>
              <a:buNone/>
            </a:pPr>
            <a:r>
              <a:t/>
            </a:r>
            <a:endParaRPr sz="2000">
              <a:latin typeface="Calibri"/>
              <a:ea typeface="Calibri"/>
              <a:cs typeface="Calibri"/>
              <a:sym typeface="Calibri"/>
            </a:endParaRPr>
          </a:p>
        </p:txBody>
      </p:sp>
      <p:sp>
        <p:nvSpPr>
          <p:cNvPr id="140" name="Google Shape;140;p18"/>
          <p:cNvSpPr txBox="1"/>
          <p:nvPr>
            <p:ph idx="10" type="dt"/>
          </p:nvPr>
        </p:nvSpPr>
        <p:spPr>
          <a:xfrm>
            <a:off x="911225" y="6435725"/>
            <a:ext cx="1090800" cy="5556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12700" rtl="0" algn="l">
              <a:lnSpc>
                <a:spcPct val="100555"/>
              </a:lnSpc>
              <a:spcBef>
                <a:spcPts val="0"/>
              </a:spcBef>
              <a:spcAft>
                <a:spcPts val="0"/>
              </a:spcAft>
              <a:buNone/>
            </a:pPr>
            <a:r>
              <a:t/>
            </a:r>
            <a:endParaRPr/>
          </a:p>
        </p:txBody>
      </p:sp>
      <p:sp>
        <p:nvSpPr>
          <p:cNvPr id="141" name="Google Shape;141;p18"/>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FIRST REVIEW PRESENTATION</a:t>
            </a:r>
            <a:endParaRPr/>
          </a:p>
        </p:txBody>
      </p:sp>
      <p:sp>
        <p:nvSpPr>
          <p:cNvPr id="142" name="Google Shape;142;p18"/>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143" name="Google Shape;143;p18"/>
          <p:cNvSpPr txBox="1"/>
          <p:nvPr>
            <p:ph type="title"/>
          </p:nvPr>
        </p:nvSpPr>
        <p:spPr>
          <a:xfrm>
            <a:off x="2284015" y="240908"/>
            <a:ext cx="7623968" cy="391159"/>
          </a:xfrm>
          <a:prstGeom prst="rect">
            <a:avLst/>
          </a:prstGeom>
          <a:noFill/>
          <a:ln>
            <a:noFill/>
          </a:ln>
        </p:spPr>
        <p:txBody>
          <a:bodyPr anchorCtr="0" anchor="t" bIns="0" lIns="0" spcFirstLastPara="1" rIns="0" wrap="square" tIns="12700">
            <a:spAutoFit/>
          </a:bodyPr>
          <a:lstStyle/>
          <a:p>
            <a:pPr indent="0" lvl="0" marL="541020" rtl="0" algn="l">
              <a:lnSpc>
                <a:spcPct val="100000"/>
              </a:lnSpc>
              <a:spcBef>
                <a:spcPts val="0"/>
              </a:spcBef>
              <a:spcAft>
                <a:spcPts val="0"/>
              </a:spcAft>
              <a:buNone/>
            </a:pPr>
            <a:r>
              <a:rPr lang="en-US"/>
              <a:t>PENDING WORKS AND PLAN FOR COMPLETION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 name="Shape 147"/>
        <p:cNvGrpSpPr/>
        <p:nvPr/>
      </p:nvGrpSpPr>
      <p:grpSpPr>
        <a:xfrm>
          <a:off x="0" y="0"/>
          <a:ext cx="0" cy="0"/>
          <a:chOff x="0" y="0"/>
          <a:chExt cx="0" cy="0"/>
        </a:xfrm>
      </p:grpSpPr>
      <p:sp>
        <p:nvSpPr>
          <p:cNvPr id="148" name="Google Shape;148;p19"/>
          <p:cNvSpPr txBox="1"/>
          <p:nvPr>
            <p:ph idx="10" type="dt"/>
          </p:nvPr>
        </p:nvSpPr>
        <p:spPr>
          <a:xfrm>
            <a:off x="911225" y="6435725"/>
            <a:ext cx="1090800" cy="5556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0" rtl="0" algn="l">
              <a:lnSpc>
                <a:spcPct val="100555"/>
              </a:lnSpc>
              <a:spcBef>
                <a:spcPts val="0"/>
              </a:spcBef>
              <a:spcAft>
                <a:spcPts val="0"/>
              </a:spcAft>
              <a:buNone/>
            </a:pPr>
            <a:r>
              <a:t/>
            </a:r>
            <a:endParaRPr/>
          </a:p>
        </p:txBody>
      </p:sp>
      <p:sp>
        <p:nvSpPr>
          <p:cNvPr id="149" name="Google Shape;149;p19"/>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FIRST REVIEW PRESENTATION</a:t>
            </a:r>
            <a:endParaRPr/>
          </a:p>
        </p:txBody>
      </p:sp>
      <p:sp>
        <p:nvSpPr>
          <p:cNvPr id="150" name="Google Shape;150;p19"/>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151" name="Google Shape;151;p19"/>
          <p:cNvSpPr txBox="1"/>
          <p:nvPr>
            <p:ph type="title"/>
          </p:nvPr>
        </p:nvSpPr>
        <p:spPr>
          <a:xfrm>
            <a:off x="4302125" y="490291"/>
            <a:ext cx="3585210"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PLAN FOR PUBLICATIONS</a:t>
            </a:r>
            <a:endParaRPr/>
          </a:p>
        </p:txBody>
      </p:sp>
      <p:sp>
        <p:nvSpPr>
          <p:cNvPr id="152" name="Google Shape;152;p19"/>
          <p:cNvSpPr txBox="1"/>
          <p:nvPr/>
        </p:nvSpPr>
        <p:spPr>
          <a:xfrm>
            <a:off x="964547" y="945656"/>
            <a:ext cx="8721600" cy="4440600"/>
          </a:xfrm>
          <a:prstGeom prst="rect">
            <a:avLst/>
          </a:prstGeom>
          <a:noFill/>
          <a:ln>
            <a:noFill/>
          </a:ln>
        </p:spPr>
        <p:txBody>
          <a:bodyPr anchorCtr="0" anchor="t" bIns="0" lIns="0" spcFirstLastPara="1" rIns="0" wrap="square" tIns="96500">
            <a:spAutoFit/>
          </a:bodyPr>
          <a:lstStyle/>
          <a:p>
            <a:pPr indent="-355600" lvl="0" marL="457200" rtl="0" algn="l">
              <a:spcBef>
                <a:spcPts val="665"/>
              </a:spcBef>
              <a:spcAft>
                <a:spcPts val="0"/>
              </a:spcAft>
              <a:buSzPts val="2000"/>
              <a:buChar char="•"/>
            </a:pPr>
            <a:r>
              <a:rPr b="1" lang="en-US" sz="2000">
                <a:solidFill>
                  <a:schemeClr val="dk1"/>
                </a:solidFill>
              </a:rPr>
              <a:t>Conference Paper:</a:t>
            </a:r>
            <a:r>
              <a:rPr lang="en-US" sz="2000">
                <a:solidFill>
                  <a:schemeClr val="dk1"/>
                </a:solidFill>
              </a:rPr>
              <a:t> IEEE International Conference on Computing, Communication and Automation (ICCCA) – </a:t>
            </a:r>
            <a:r>
              <a:rPr b="1" lang="en-US" sz="2000">
                <a:solidFill>
                  <a:schemeClr val="dk1"/>
                </a:solidFill>
              </a:rPr>
              <a:t>planned submission around June–July 2027</a:t>
            </a:r>
            <a:r>
              <a:rPr lang="en-US" sz="2000">
                <a:solidFill>
                  <a:schemeClr val="dk1"/>
                </a:solidFill>
              </a:rPr>
              <a:t>.</a:t>
            </a:r>
            <a:endParaRPr sz="2000">
              <a:solidFill>
                <a:schemeClr val="dk1"/>
              </a:solidFill>
            </a:endParaRPr>
          </a:p>
          <a:p>
            <a:pPr indent="-355600" lvl="0" marL="457200" rtl="0" algn="l">
              <a:spcBef>
                <a:spcPts val="665"/>
              </a:spcBef>
              <a:spcAft>
                <a:spcPts val="0"/>
              </a:spcAft>
              <a:buSzPts val="2000"/>
              <a:buChar char="•"/>
            </a:pPr>
            <a:r>
              <a:rPr b="1" lang="en-US" sz="2000">
                <a:solidFill>
                  <a:schemeClr val="dk1"/>
                </a:solidFill>
              </a:rPr>
              <a:t>Journal Paper:</a:t>
            </a:r>
            <a:r>
              <a:rPr lang="en-US" sz="2000">
                <a:solidFill>
                  <a:schemeClr val="dk1"/>
                </a:solidFill>
              </a:rPr>
              <a:t> International Journal of Advanced Research in Computer and Communication Engineering (IJARCCE) – </a:t>
            </a:r>
            <a:r>
              <a:rPr b="1" lang="en-US" sz="2000">
                <a:solidFill>
                  <a:schemeClr val="dk1"/>
                </a:solidFill>
              </a:rPr>
              <a:t>planned submission around June–July 2027</a:t>
            </a:r>
            <a:r>
              <a:rPr lang="en-US" sz="2000">
                <a:solidFill>
                  <a:schemeClr val="dk1"/>
                </a:solidFill>
              </a:rPr>
              <a:t>.</a:t>
            </a:r>
            <a:endParaRPr sz="2000">
              <a:solidFill>
                <a:schemeClr val="dk1"/>
              </a:solidFill>
            </a:endParaRPr>
          </a:p>
          <a:p>
            <a:pPr indent="-355600" lvl="0" marL="457200" rtl="0" algn="l">
              <a:spcBef>
                <a:spcPts val="665"/>
              </a:spcBef>
              <a:spcAft>
                <a:spcPts val="0"/>
              </a:spcAft>
              <a:buSzPts val="2000"/>
              <a:buChar char="•"/>
            </a:pPr>
            <a:r>
              <a:rPr b="1" lang="en-US" sz="2000">
                <a:solidFill>
                  <a:schemeClr val="dk1"/>
                </a:solidFill>
              </a:rPr>
              <a:t>Technical Blog:</a:t>
            </a:r>
            <a:r>
              <a:rPr lang="en-US" sz="2000">
                <a:solidFill>
                  <a:schemeClr val="dk1"/>
                </a:solidFill>
              </a:rPr>
              <a:t> Case study to be published on the </a:t>
            </a:r>
            <a:r>
              <a:rPr b="1" lang="en-US" sz="2000">
                <a:solidFill>
                  <a:schemeClr val="dk1"/>
                </a:solidFill>
              </a:rPr>
              <a:t>Streamlit Community Blog</a:t>
            </a:r>
            <a:r>
              <a:rPr lang="en-US" sz="2000">
                <a:solidFill>
                  <a:schemeClr val="dk1"/>
                </a:solidFill>
              </a:rPr>
              <a:t>.</a:t>
            </a:r>
            <a:endParaRPr sz="2000">
              <a:solidFill>
                <a:schemeClr val="dk1"/>
              </a:solidFill>
            </a:endParaRPr>
          </a:p>
          <a:p>
            <a:pPr indent="-355600" lvl="0" marL="457200" rtl="0" algn="l">
              <a:spcBef>
                <a:spcPts val="665"/>
              </a:spcBef>
              <a:spcAft>
                <a:spcPts val="0"/>
              </a:spcAft>
              <a:buSzPts val="2000"/>
              <a:buChar char="•"/>
            </a:pPr>
            <a:r>
              <a:rPr b="1" lang="en-US" sz="2000">
                <a:solidFill>
                  <a:schemeClr val="dk1"/>
                </a:solidFill>
              </a:rPr>
              <a:t>Open Source Release:</a:t>
            </a:r>
            <a:r>
              <a:rPr lang="en-US" sz="2000">
                <a:solidFill>
                  <a:schemeClr val="dk1"/>
                </a:solidFill>
              </a:rPr>
              <a:t> Project with documentation will be published on GitHub repository.</a:t>
            </a:r>
            <a:endParaRPr sz="2000">
              <a:solidFill>
                <a:schemeClr val="dk1"/>
              </a:solidFill>
            </a:endParaRPr>
          </a:p>
          <a:p>
            <a:pPr indent="-355600" lvl="0" marL="457200" rtl="0" algn="l">
              <a:spcBef>
                <a:spcPts val="665"/>
              </a:spcBef>
              <a:spcAft>
                <a:spcPts val="0"/>
              </a:spcAft>
              <a:buSzPts val="2000"/>
              <a:buChar char="•"/>
            </a:pPr>
            <a:r>
              <a:rPr b="1" lang="en-US" sz="2000">
                <a:solidFill>
                  <a:schemeClr val="dk1"/>
                </a:solidFill>
              </a:rPr>
              <a:t>Proposed Paper Title:</a:t>
            </a:r>
            <a:r>
              <a:rPr lang="en-US" sz="2000">
                <a:solidFill>
                  <a:schemeClr val="dk1"/>
                </a:solidFill>
              </a:rPr>
              <a:t> </a:t>
            </a:r>
            <a:r>
              <a:rPr i="1" lang="en-US" sz="2000">
                <a:solidFill>
                  <a:schemeClr val="dk1"/>
                </a:solidFill>
              </a:rPr>
              <a:t>“Neural Recruitment Intelligence: Automated Resume Screening using TF-IDF, Cosine Similarity, and Large Language Models.”</a:t>
            </a:r>
            <a:endParaRPr sz="28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6" name="Shape 156"/>
        <p:cNvGrpSpPr/>
        <p:nvPr/>
      </p:nvGrpSpPr>
      <p:grpSpPr>
        <a:xfrm>
          <a:off x="0" y="0"/>
          <a:ext cx="0" cy="0"/>
          <a:chOff x="0" y="0"/>
          <a:chExt cx="0" cy="0"/>
        </a:xfrm>
      </p:grpSpPr>
      <p:sp>
        <p:nvSpPr>
          <p:cNvPr id="157" name="Google Shape;157;p20"/>
          <p:cNvSpPr txBox="1"/>
          <p:nvPr>
            <p:ph idx="10" type="dt"/>
          </p:nvPr>
        </p:nvSpPr>
        <p:spPr>
          <a:xfrm>
            <a:off x="911225" y="6435725"/>
            <a:ext cx="1090800" cy="5556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Clr>
                <a:schemeClr val="dk1"/>
              </a:buClr>
              <a:buFont typeface="Arial"/>
              <a:buNone/>
            </a:pPr>
            <a:r>
              <a:rPr lang="en-US"/>
              <a:t>6-03-2026</a:t>
            </a:r>
            <a:endParaRPr/>
          </a:p>
          <a:p>
            <a:pPr indent="0" lvl="0" marL="12700" rtl="0" algn="l">
              <a:lnSpc>
                <a:spcPct val="100555"/>
              </a:lnSpc>
              <a:spcBef>
                <a:spcPts val="0"/>
              </a:spcBef>
              <a:spcAft>
                <a:spcPts val="0"/>
              </a:spcAft>
              <a:buNone/>
            </a:pPr>
            <a:r>
              <a:t/>
            </a:r>
            <a:endParaRPr/>
          </a:p>
        </p:txBody>
      </p:sp>
      <p:sp>
        <p:nvSpPr>
          <p:cNvPr id="158" name="Google Shape;158;p20"/>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FIRST REVIEW PRESENTATION</a:t>
            </a:r>
            <a:endParaRPr/>
          </a:p>
        </p:txBody>
      </p:sp>
      <p:sp>
        <p:nvSpPr>
          <p:cNvPr id="159" name="Google Shape;159;p20"/>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160" name="Google Shape;160;p20"/>
          <p:cNvSpPr txBox="1"/>
          <p:nvPr>
            <p:ph type="title"/>
          </p:nvPr>
        </p:nvSpPr>
        <p:spPr>
          <a:xfrm>
            <a:off x="1724645" y="490291"/>
            <a:ext cx="8736330"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Status on Partial Completion and Submission of Project Report</a:t>
            </a:r>
            <a:endParaRPr/>
          </a:p>
        </p:txBody>
      </p:sp>
      <p:sp>
        <p:nvSpPr>
          <p:cNvPr id="161" name="Google Shape;161;p20"/>
          <p:cNvSpPr txBox="1"/>
          <p:nvPr/>
        </p:nvSpPr>
        <p:spPr>
          <a:xfrm>
            <a:off x="911225" y="1029984"/>
            <a:ext cx="511492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800">
                <a:solidFill>
                  <a:srgbClr val="375523"/>
                </a:solidFill>
                <a:latin typeface="Calibri"/>
                <a:ea typeface="Calibri"/>
                <a:cs typeface="Calibri"/>
                <a:sym typeface="Calibri"/>
              </a:rPr>
              <a:t>List of Documents to be Submitted</a:t>
            </a:r>
            <a:endParaRPr sz="2800">
              <a:latin typeface="Calibri"/>
              <a:ea typeface="Calibri"/>
              <a:cs typeface="Calibri"/>
              <a:sym typeface="Calibri"/>
            </a:endParaRPr>
          </a:p>
        </p:txBody>
      </p:sp>
      <p:graphicFrame>
        <p:nvGraphicFramePr>
          <p:cNvPr id="162" name="Google Shape;162;p20"/>
          <p:cNvGraphicFramePr/>
          <p:nvPr/>
        </p:nvGraphicFramePr>
        <p:xfrm>
          <a:off x="831850" y="1638736"/>
          <a:ext cx="3000000" cy="3000000"/>
        </p:xfrm>
        <a:graphic>
          <a:graphicData uri="http://schemas.openxmlformats.org/drawingml/2006/table">
            <a:tbl>
              <a:tblPr bandRow="1" firstRow="1">
                <a:noFill/>
                <a:tableStyleId>{CBCE6062-8F62-4B89-859D-0402CE6BD266}</a:tableStyleId>
              </a:tblPr>
              <a:tblGrid>
                <a:gridCol w="988050"/>
                <a:gridCol w="5752475"/>
                <a:gridCol w="3369950"/>
              </a:tblGrid>
              <a:tr h="639450">
                <a:tc>
                  <a:txBody>
                    <a:bodyPr/>
                    <a:lstStyle/>
                    <a:p>
                      <a:pPr indent="0" lvl="0" marL="85725" marR="0" rtl="0" algn="l">
                        <a:lnSpc>
                          <a:spcPct val="100000"/>
                        </a:lnSpc>
                        <a:spcBef>
                          <a:spcPts val="0"/>
                        </a:spcBef>
                        <a:spcAft>
                          <a:spcPts val="0"/>
                        </a:spcAft>
                        <a:buNone/>
                      </a:pPr>
                      <a:r>
                        <a:rPr b="1" lang="en-US" sz="1800" u="none" cap="none" strike="noStrike">
                          <a:solidFill>
                            <a:srgbClr val="FFFFFF"/>
                          </a:solidFill>
                          <a:latin typeface="Calibri"/>
                          <a:ea typeface="Calibri"/>
                          <a:cs typeface="Calibri"/>
                          <a:sym typeface="Calibri"/>
                        </a:rPr>
                        <a:t>SL.No</a:t>
                      </a:r>
                      <a:endParaRPr sz="1800" u="none" cap="none" strike="noStrike">
                        <a:latin typeface="Calibri"/>
                        <a:ea typeface="Calibri"/>
                        <a:cs typeface="Calibri"/>
                        <a:sym typeface="Calibri"/>
                      </a:endParaRPr>
                    </a:p>
                  </a:txBody>
                  <a:tcPr marT="285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B9BD4"/>
                    </a:solidFill>
                  </a:tcPr>
                </a:tc>
                <a:tc>
                  <a:txBody>
                    <a:bodyPr/>
                    <a:lstStyle/>
                    <a:p>
                      <a:pPr indent="0" lvl="0" marL="85725" marR="0" rtl="0" algn="l">
                        <a:lnSpc>
                          <a:spcPct val="100000"/>
                        </a:lnSpc>
                        <a:spcBef>
                          <a:spcPts val="0"/>
                        </a:spcBef>
                        <a:spcAft>
                          <a:spcPts val="0"/>
                        </a:spcAft>
                        <a:buNone/>
                      </a:pPr>
                      <a:r>
                        <a:rPr b="1" lang="en-US" sz="1800" u="none" cap="none" strike="noStrike">
                          <a:solidFill>
                            <a:srgbClr val="FFFFFF"/>
                          </a:solidFill>
                          <a:latin typeface="Calibri"/>
                          <a:ea typeface="Calibri"/>
                          <a:cs typeface="Calibri"/>
                          <a:sym typeface="Calibri"/>
                        </a:rPr>
                        <a:t>List of Documents</a:t>
                      </a:r>
                      <a:endParaRPr sz="1800" u="none" cap="none" strike="noStrike">
                        <a:latin typeface="Calibri"/>
                        <a:ea typeface="Calibri"/>
                        <a:cs typeface="Calibri"/>
                        <a:sym typeface="Calibri"/>
                      </a:endParaRPr>
                    </a:p>
                  </a:txBody>
                  <a:tcPr marT="285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B9BD4"/>
                    </a:solidFill>
                  </a:tcPr>
                </a:tc>
                <a:tc>
                  <a:txBody>
                    <a:bodyPr/>
                    <a:lstStyle/>
                    <a:p>
                      <a:pPr indent="0" lvl="0" marL="85725" marR="247015" rtl="0" algn="l">
                        <a:lnSpc>
                          <a:spcPct val="100000"/>
                        </a:lnSpc>
                        <a:spcBef>
                          <a:spcPts val="0"/>
                        </a:spcBef>
                        <a:spcAft>
                          <a:spcPts val="0"/>
                        </a:spcAft>
                        <a:buNone/>
                      </a:pPr>
                      <a:r>
                        <a:rPr b="1" lang="en-US" sz="1800" u="none" cap="none" strike="noStrike">
                          <a:solidFill>
                            <a:srgbClr val="FFFFFF"/>
                          </a:solidFill>
                          <a:latin typeface="Calibri"/>
                          <a:ea typeface="Calibri"/>
                          <a:cs typeface="Calibri"/>
                          <a:sym typeface="Calibri"/>
                        </a:rPr>
                        <a:t>Status ( Provide the drive link of prepared document)</a:t>
                      </a:r>
                      <a:endParaRPr sz="1800" u="none" cap="none" strike="noStrike">
                        <a:latin typeface="Calibri"/>
                        <a:ea typeface="Calibri"/>
                        <a:cs typeface="Calibri"/>
                        <a:sym typeface="Calibri"/>
                      </a:endParaRPr>
                    </a:p>
                  </a:txBody>
                  <a:tcPr marT="2857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B9BD4"/>
                    </a:solidFill>
                  </a:tcPr>
                </a:tc>
              </a:tr>
              <a:tr h="82232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US" sz="1800" u="none" cap="none" strike="noStrike">
                          <a:latin typeface="Calibri"/>
                          <a:ea typeface="Calibri"/>
                          <a:cs typeface="Calibri"/>
                          <a:sym typeface="Calibri"/>
                        </a:rPr>
                        <a:t>1</a:t>
                      </a:r>
                      <a:endParaRPr sz="1800" u="none" cap="none" strike="noStrike">
                        <a:latin typeface="Calibri"/>
                        <a:ea typeface="Calibri"/>
                        <a:cs typeface="Calibri"/>
                        <a:sym typeface="Calibri"/>
                      </a:endParaRPr>
                    </a:p>
                  </a:txBody>
                  <a:tcPr marT="19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E"/>
                    </a:solidFill>
                  </a:tcPr>
                </a:tc>
                <a:tc>
                  <a:txBody>
                    <a:bodyPr/>
                    <a:lstStyle/>
                    <a:p>
                      <a:pPr indent="0" lvl="0" marL="85725" marR="497205" rtl="0" algn="l">
                        <a:lnSpc>
                          <a:spcPct val="100000"/>
                        </a:lnSpc>
                        <a:spcBef>
                          <a:spcPts val="0"/>
                        </a:spcBef>
                        <a:spcAft>
                          <a:spcPts val="0"/>
                        </a:spcAft>
                        <a:buNone/>
                      </a:pPr>
                      <a:r>
                        <a:rPr lang="en-US" sz="2400" u="none" cap="none" strike="noStrike">
                          <a:solidFill>
                            <a:srgbClr val="7030A0"/>
                          </a:solidFill>
                          <a:latin typeface="Calibri"/>
                          <a:ea typeface="Calibri"/>
                          <a:cs typeface="Calibri"/>
                          <a:sym typeface="Calibri"/>
                        </a:rPr>
                        <a:t>Cover Page &amp; Title Page (Both are in same format)</a:t>
                      </a:r>
                      <a:endParaRPr sz="2400" u="none" cap="none" strike="noStrike">
                        <a:latin typeface="Calibri"/>
                        <a:ea typeface="Calibri"/>
                        <a:cs typeface="Calibri"/>
                        <a:sym typeface="Calibri"/>
                      </a:endParaRPr>
                    </a:p>
                  </a:txBody>
                  <a:tcPr marT="260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E"/>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E"/>
                    </a:solidFill>
                  </a:tcPr>
                </a:tc>
              </a:tr>
              <a:tr h="554350">
                <a:tc>
                  <a:txBody>
                    <a:bodyPr/>
                    <a:lstStyle/>
                    <a:p>
                      <a:pPr indent="0" lvl="0" marL="0" marR="0" rtl="0" algn="ctr">
                        <a:lnSpc>
                          <a:spcPct val="100000"/>
                        </a:lnSpc>
                        <a:spcBef>
                          <a:spcPts val="0"/>
                        </a:spcBef>
                        <a:spcAft>
                          <a:spcPts val="0"/>
                        </a:spcAft>
                        <a:buNone/>
                      </a:pPr>
                      <a:r>
                        <a:rPr lang="en-US" sz="1800" u="none" cap="none" strike="noStrike">
                          <a:latin typeface="Calibri"/>
                          <a:ea typeface="Calibri"/>
                          <a:cs typeface="Calibri"/>
                          <a:sym typeface="Calibri"/>
                        </a:rPr>
                        <a:t>2</a:t>
                      </a:r>
                      <a:endParaRPr sz="1800" u="none" cap="none" strike="noStrike">
                        <a:latin typeface="Calibri"/>
                        <a:ea typeface="Calibri"/>
                        <a:cs typeface="Calibri"/>
                        <a:sym typeface="Calibri"/>
                      </a:endParaRPr>
                    </a:p>
                  </a:txBody>
                  <a:tcPr marT="1308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9EEF6"/>
                    </a:solidFill>
                  </a:tcPr>
                </a:tc>
                <a:tc>
                  <a:txBody>
                    <a:bodyPr/>
                    <a:lstStyle/>
                    <a:p>
                      <a:pPr indent="0" lvl="0" marL="85725" marR="0" rtl="0" algn="l">
                        <a:lnSpc>
                          <a:spcPct val="100000"/>
                        </a:lnSpc>
                        <a:spcBef>
                          <a:spcPts val="0"/>
                        </a:spcBef>
                        <a:spcAft>
                          <a:spcPts val="0"/>
                        </a:spcAft>
                        <a:buNone/>
                      </a:pPr>
                      <a:r>
                        <a:rPr lang="en-US" sz="2400" u="none" cap="none" strike="noStrike">
                          <a:solidFill>
                            <a:srgbClr val="7030A0"/>
                          </a:solidFill>
                          <a:latin typeface="Calibri"/>
                          <a:ea typeface="Calibri"/>
                          <a:cs typeface="Calibri"/>
                          <a:sym typeface="Calibri"/>
                        </a:rPr>
                        <a:t>Bonafide Certificate</a:t>
                      </a:r>
                      <a:endParaRPr sz="2400" u="none" cap="none" strike="noStrike">
                        <a:latin typeface="Calibri"/>
                        <a:ea typeface="Calibri"/>
                        <a:cs typeface="Calibri"/>
                        <a:sym typeface="Calibri"/>
                      </a:endParaRPr>
                    </a:p>
                  </a:txBody>
                  <a:tcPr marT="254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9EEF6"/>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9EEF6"/>
                    </a:solidFill>
                  </a:tcPr>
                </a:tc>
              </a:tr>
              <a:tr h="554350">
                <a:tc>
                  <a:txBody>
                    <a:bodyPr/>
                    <a:lstStyle/>
                    <a:p>
                      <a:pPr indent="0" lvl="0" marL="0" marR="0" rtl="0" algn="ctr">
                        <a:lnSpc>
                          <a:spcPct val="100000"/>
                        </a:lnSpc>
                        <a:spcBef>
                          <a:spcPts val="0"/>
                        </a:spcBef>
                        <a:spcAft>
                          <a:spcPts val="0"/>
                        </a:spcAft>
                        <a:buNone/>
                      </a:pPr>
                      <a:r>
                        <a:rPr lang="en-US" sz="1800" u="none" cap="none" strike="noStrike">
                          <a:latin typeface="Calibri"/>
                          <a:ea typeface="Calibri"/>
                          <a:cs typeface="Calibri"/>
                          <a:sym typeface="Calibri"/>
                        </a:rPr>
                        <a:t>3</a:t>
                      </a:r>
                      <a:endParaRPr sz="1800" u="none" cap="none" strike="noStrike">
                        <a:latin typeface="Calibri"/>
                        <a:ea typeface="Calibri"/>
                        <a:cs typeface="Calibri"/>
                        <a:sym typeface="Calibri"/>
                      </a:endParaRPr>
                    </a:p>
                  </a:txBody>
                  <a:tcPr marT="1308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E"/>
                    </a:solidFill>
                  </a:tcPr>
                </a:tc>
                <a:tc>
                  <a:txBody>
                    <a:bodyPr/>
                    <a:lstStyle/>
                    <a:p>
                      <a:pPr indent="0" lvl="0" marL="85725" marR="0" rtl="0" algn="l">
                        <a:lnSpc>
                          <a:spcPct val="100000"/>
                        </a:lnSpc>
                        <a:spcBef>
                          <a:spcPts val="0"/>
                        </a:spcBef>
                        <a:spcAft>
                          <a:spcPts val="0"/>
                        </a:spcAft>
                        <a:buNone/>
                      </a:pPr>
                      <a:r>
                        <a:rPr lang="en-US" sz="2400" u="none" cap="none" strike="noStrike">
                          <a:solidFill>
                            <a:srgbClr val="7030A0"/>
                          </a:solidFill>
                          <a:latin typeface="Calibri"/>
                          <a:ea typeface="Calibri"/>
                          <a:cs typeface="Calibri"/>
                          <a:sym typeface="Calibri"/>
                        </a:rPr>
                        <a:t>Declaration</a:t>
                      </a:r>
                      <a:endParaRPr sz="2400" u="none" cap="none" strike="noStrike">
                        <a:latin typeface="Calibri"/>
                        <a:ea typeface="Calibri"/>
                        <a:cs typeface="Calibri"/>
                        <a:sym typeface="Calibri"/>
                      </a:endParaRPr>
                    </a:p>
                  </a:txBody>
                  <a:tcPr marT="260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E"/>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E"/>
                    </a:solidFill>
                  </a:tcPr>
                </a:tc>
              </a:tr>
              <a:tr h="554350">
                <a:tc>
                  <a:txBody>
                    <a:bodyPr/>
                    <a:lstStyle/>
                    <a:p>
                      <a:pPr indent="0" lvl="0" marL="0" marR="0" rtl="0" algn="ctr">
                        <a:lnSpc>
                          <a:spcPct val="100000"/>
                        </a:lnSpc>
                        <a:spcBef>
                          <a:spcPts val="0"/>
                        </a:spcBef>
                        <a:spcAft>
                          <a:spcPts val="0"/>
                        </a:spcAft>
                        <a:buNone/>
                      </a:pPr>
                      <a:r>
                        <a:rPr lang="en-US" sz="1800" u="none" cap="none" strike="noStrike">
                          <a:latin typeface="Calibri"/>
                          <a:ea typeface="Calibri"/>
                          <a:cs typeface="Calibri"/>
                          <a:sym typeface="Calibri"/>
                        </a:rPr>
                        <a:t>4</a:t>
                      </a:r>
                      <a:endParaRPr sz="1800" u="none" cap="none" strike="noStrike">
                        <a:latin typeface="Calibri"/>
                        <a:ea typeface="Calibri"/>
                        <a:cs typeface="Calibri"/>
                        <a:sym typeface="Calibri"/>
                      </a:endParaRPr>
                    </a:p>
                  </a:txBody>
                  <a:tcPr marT="1308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9EEF6"/>
                    </a:solidFill>
                  </a:tcPr>
                </a:tc>
                <a:tc>
                  <a:txBody>
                    <a:bodyPr/>
                    <a:lstStyle/>
                    <a:p>
                      <a:pPr indent="0" lvl="0" marL="85725" marR="0" rtl="0" algn="l">
                        <a:lnSpc>
                          <a:spcPct val="100000"/>
                        </a:lnSpc>
                        <a:spcBef>
                          <a:spcPts val="0"/>
                        </a:spcBef>
                        <a:spcAft>
                          <a:spcPts val="0"/>
                        </a:spcAft>
                        <a:buNone/>
                      </a:pPr>
                      <a:r>
                        <a:rPr lang="en-US" sz="2400" u="none" cap="none" strike="noStrike">
                          <a:solidFill>
                            <a:srgbClr val="7030A0"/>
                          </a:solidFill>
                          <a:latin typeface="Calibri"/>
                          <a:ea typeface="Calibri"/>
                          <a:cs typeface="Calibri"/>
                          <a:sym typeface="Calibri"/>
                        </a:rPr>
                        <a:t>Acknowledgement</a:t>
                      </a:r>
                      <a:endParaRPr sz="2400" u="none" cap="none" strike="noStrike">
                        <a:latin typeface="Calibri"/>
                        <a:ea typeface="Calibri"/>
                        <a:cs typeface="Calibri"/>
                        <a:sym typeface="Calibri"/>
                      </a:endParaRPr>
                    </a:p>
                  </a:txBody>
                  <a:tcPr marT="260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9EEF6"/>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9EEF6"/>
                    </a:solidFill>
                  </a:tcPr>
                </a:tc>
              </a:tr>
              <a:tr h="554350">
                <a:tc>
                  <a:txBody>
                    <a:bodyPr/>
                    <a:lstStyle/>
                    <a:p>
                      <a:pPr indent="0" lvl="0" marL="0" marR="0" rtl="0" algn="ctr">
                        <a:lnSpc>
                          <a:spcPct val="100000"/>
                        </a:lnSpc>
                        <a:spcBef>
                          <a:spcPts val="0"/>
                        </a:spcBef>
                        <a:spcAft>
                          <a:spcPts val="0"/>
                        </a:spcAft>
                        <a:buNone/>
                      </a:pPr>
                      <a:r>
                        <a:rPr lang="en-US" sz="1800" u="none" cap="none" strike="noStrike">
                          <a:latin typeface="Calibri"/>
                          <a:ea typeface="Calibri"/>
                          <a:cs typeface="Calibri"/>
                          <a:sym typeface="Calibri"/>
                        </a:rPr>
                        <a:t>5</a:t>
                      </a:r>
                      <a:endParaRPr sz="1800" u="none" cap="none" strike="noStrike">
                        <a:latin typeface="Calibri"/>
                        <a:ea typeface="Calibri"/>
                        <a:cs typeface="Calibri"/>
                        <a:sym typeface="Calibri"/>
                      </a:endParaRPr>
                    </a:p>
                  </a:txBody>
                  <a:tcPr marT="1308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E"/>
                    </a:solidFill>
                  </a:tcPr>
                </a:tc>
                <a:tc>
                  <a:txBody>
                    <a:bodyPr/>
                    <a:lstStyle/>
                    <a:p>
                      <a:pPr indent="0" lvl="0" marL="85725" marR="0" rtl="0" algn="l">
                        <a:lnSpc>
                          <a:spcPct val="100000"/>
                        </a:lnSpc>
                        <a:spcBef>
                          <a:spcPts val="0"/>
                        </a:spcBef>
                        <a:spcAft>
                          <a:spcPts val="0"/>
                        </a:spcAft>
                        <a:buNone/>
                      </a:pPr>
                      <a:r>
                        <a:rPr lang="en-US" sz="2400" u="none" cap="none" strike="noStrike">
                          <a:solidFill>
                            <a:srgbClr val="7030A0"/>
                          </a:solidFill>
                          <a:latin typeface="Calibri"/>
                          <a:ea typeface="Calibri"/>
                          <a:cs typeface="Calibri"/>
                          <a:sym typeface="Calibri"/>
                        </a:rPr>
                        <a:t>Chapter I – Introduction</a:t>
                      </a:r>
                      <a:endParaRPr sz="2400" u="none" cap="none" strike="noStrike">
                        <a:latin typeface="Calibri"/>
                        <a:ea typeface="Calibri"/>
                        <a:cs typeface="Calibri"/>
                        <a:sym typeface="Calibri"/>
                      </a:endParaRPr>
                    </a:p>
                  </a:txBody>
                  <a:tcPr marT="260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E"/>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0DEEE"/>
                    </a:solidFill>
                  </a:tcPr>
                </a:tc>
              </a:tr>
              <a:tr h="554350">
                <a:tc>
                  <a:txBody>
                    <a:bodyPr/>
                    <a:lstStyle/>
                    <a:p>
                      <a:pPr indent="0" lvl="0" marL="0" marR="0" rtl="0" algn="ctr">
                        <a:lnSpc>
                          <a:spcPct val="100000"/>
                        </a:lnSpc>
                        <a:spcBef>
                          <a:spcPts val="0"/>
                        </a:spcBef>
                        <a:spcAft>
                          <a:spcPts val="0"/>
                        </a:spcAft>
                        <a:buNone/>
                      </a:pPr>
                      <a:r>
                        <a:rPr lang="en-US" sz="1800" u="none" cap="none" strike="noStrike">
                          <a:latin typeface="Calibri"/>
                          <a:ea typeface="Calibri"/>
                          <a:cs typeface="Calibri"/>
                          <a:sym typeface="Calibri"/>
                        </a:rPr>
                        <a:t>6</a:t>
                      </a:r>
                      <a:endParaRPr sz="1800" u="none" cap="none" strike="noStrike">
                        <a:latin typeface="Calibri"/>
                        <a:ea typeface="Calibri"/>
                        <a:cs typeface="Calibri"/>
                        <a:sym typeface="Calibri"/>
                      </a:endParaRPr>
                    </a:p>
                  </a:txBody>
                  <a:tcPr marT="1308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9EEF6"/>
                    </a:solidFill>
                  </a:tcPr>
                </a:tc>
                <a:tc>
                  <a:txBody>
                    <a:bodyPr/>
                    <a:lstStyle/>
                    <a:p>
                      <a:pPr indent="0" lvl="0" marL="85725" marR="0" rtl="0" algn="l">
                        <a:lnSpc>
                          <a:spcPct val="100000"/>
                        </a:lnSpc>
                        <a:spcBef>
                          <a:spcPts val="0"/>
                        </a:spcBef>
                        <a:spcAft>
                          <a:spcPts val="0"/>
                        </a:spcAft>
                        <a:buNone/>
                      </a:pPr>
                      <a:r>
                        <a:rPr lang="en-US" sz="2400" u="none" cap="none" strike="noStrike">
                          <a:solidFill>
                            <a:srgbClr val="7030A0"/>
                          </a:solidFill>
                          <a:latin typeface="Calibri"/>
                          <a:ea typeface="Calibri"/>
                          <a:cs typeface="Calibri"/>
                          <a:sym typeface="Calibri"/>
                        </a:rPr>
                        <a:t>Chapter 2 – Literature Survey</a:t>
                      </a:r>
                      <a:endParaRPr sz="2400" u="none" cap="none" strike="noStrike">
                        <a:latin typeface="Calibri"/>
                        <a:ea typeface="Calibri"/>
                        <a:cs typeface="Calibri"/>
                        <a:sym typeface="Calibri"/>
                      </a:endParaRPr>
                    </a:p>
                  </a:txBody>
                  <a:tcPr marT="260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9EEF6"/>
                    </a:solidFill>
                  </a:tcPr>
                </a:tc>
                <a:tc>
                  <a:txBody>
                    <a:bodyPr/>
                    <a:lstStyle/>
                    <a:p>
                      <a:pPr indent="0" lvl="0" marL="0" marR="0" rtl="0" algn="l">
                        <a:lnSpc>
                          <a:spcPct val="100000"/>
                        </a:lnSpc>
                        <a:spcBef>
                          <a:spcPts val="0"/>
                        </a:spcBef>
                        <a:spcAft>
                          <a:spcPts val="0"/>
                        </a:spcAft>
                        <a:buNone/>
                      </a:pPr>
                      <a:r>
                        <a:t/>
                      </a:r>
                      <a:endParaRPr sz="21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9EEF6"/>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6" name="Shape 166"/>
        <p:cNvGrpSpPr/>
        <p:nvPr/>
      </p:nvGrpSpPr>
      <p:grpSpPr>
        <a:xfrm>
          <a:off x="0" y="0"/>
          <a:ext cx="0" cy="0"/>
          <a:chOff x="0" y="0"/>
          <a:chExt cx="0" cy="0"/>
        </a:xfrm>
      </p:grpSpPr>
      <p:sp>
        <p:nvSpPr>
          <p:cNvPr id="167" name="Google Shape;167;p21"/>
          <p:cNvSpPr/>
          <p:nvPr/>
        </p:nvSpPr>
        <p:spPr>
          <a:xfrm>
            <a:off x="838200" y="911514"/>
            <a:ext cx="10674985" cy="5445125"/>
          </a:xfrm>
          <a:custGeom>
            <a:rect b="b" l="l" r="r" t="t"/>
            <a:pathLst>
              <a:path extrusionOk="0" h="5445125" w="10674985">
                <a:moveTo>
                  <a:pt x="0" y="0"/>
                </a:moveTo>
                <a:lnTo>
                  <a:pt x="10674927" y="0"/>
                </a:lnTo>
                <a:lnTo>
                  <a:pt x="10674927" y="5444835"/>
                </a:lnTo>
                <a:lnTo>
                  <a:pt x="0" y="5444835"/>
                </a:lnTo>
                <a:lnTo>
                  <a:pt x="0" y="0"/>
                </a:lnTo>
                <a:close/>
              </a:path>
            </a:pathLst>
          </a:custGeom>
          <a:noFill/>
          <a:ln cap="flat" cmpd="sng" w="9525">
            <a:solidFill>
              <a:srgbClr val="C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8" name="Google Shape;168;p21"/>
          <p:cNvSpPr txBox="1"/>
          <p:nvPr/>
        </p:nvSpPr>
        <p:spPr>
          <a:xfrm>
            <a:off x="911225" y="761075"/>
            <a:ext cx="10602000" cy="5863500"/>
          </a:xfrm>
          <a:prstGeom prst="rect">
            <a:avLst/>
          </a:prstGeom>
          <a:noFill/>
          <a:ln>
            <a:noFill/>
          </a:ln>
        </p:spPr>
        <p:txBody>
          <a:bodyPr anchorCtr="0" anchor="t" bIns="0" lIns="0" spcFirstLastPara="1" rIns="0" wrap="square" tIns="146675">
            <a:spAutoFit/>
          </a:bodyPr>
          <a:lstStyle/>
          <a:p>
            <a:pPr indent="0" lvl="0" marL="12700" rtl="0" algn="l">
              <a:lnSpc>
                <a:spcPct val="100000"/>
              </a:lnSpc>
              <a:spcBef>
                <a:spcPts val="0"/>
              </a:spcBef>
              <a:spcAft>
                <a:spcPts val="0"/>
              </a:spcAft>
              <a:buNone/>
            </a:pPr>
            <a:r>
              <a:rPr lang="en-US" sz="2400">
                <a:solidFill>
                  <a:srgbClr val="C00000"/>
                </a:solidFill>
                <a:latin typeface="Calibri"/>
                <a:ea typeface="Calibri"/>
                <a:cs typeface="Calibri"/>
                <a:sym typeface="Calibri"/>
              </a:rPr>
              <a:t>Journal</a:t>
            </a:r>
            <a:endParaRPr sz="2400">
              <a:latin typeface="Calibri"/>
              <a:ea typeface="Calibri"/>
              <a:cs typeface="Calibri"/>
              <a:sym typeface="Calibri"/>
            </a:endParaRPr>
          </a:p>
          <a:p>
            <a:pPr indent="0" lvl="0" marL="12700" rtl="0" algn="l">
              <a:lnSpc>
                <a:spcPct val="113888"/>
              </a:lnSpc>
              <a:spcBef>
                <a:spcPts val="795"/>
              </a:spcBef>
              <a:spcAft>
                <a:spcPts val="0"/>
              </a:spcAft>
              <a:buNone/>
            </a:pPr>
            <a:r>
              <a:rPr lang="en-US" sz="2000">
                <a:latin typeface="Calibri"/>
                <a:ea typeface="Calibri"/>
                <a:cs typeface="Calibri"/>
                <a:sym typeface="Calibri"/>
              </a:rPr>
              <a:t>[1].</a:t>
            </a:r>
            <a:r>
              <a:rPr lang="en-US" sz="2000">
                <a:latin typeface="Calibri"/>
                <a:ea typeface="Calibri"/>
                <a:cs typeface="Calibri"/>
                <a:sym typeface="Calibri"/>
              </a:rPr>
              <a:t>A. Vaskuri, H. Baumgartner, P. Kärhä, G. Andor, and E. Ikonen, "Modeling the spectral shape of InGaAlP-based red light-emitting diodes," Journal of Applied Physics, vol. 118, no. 20, pp. 203103-1–203103-7, 2015. (Template Reference)</a:t>
            </a:r>
            <a:r>
              <a:rPr lang="en-US" sz="2000">
                <a:latin typeface="Calibri"/>
                <a:ea typeface="Calibri"/>
                <a:cs typeface="Calibri"/>
                <a:sym typeface="Calibri"/>
              </a:rPr>
              <a:t>.</a:t>
            </a:r>
            <a:endParaRPr sz="2000">
              <a:latin typeface="Calibri"/>
              <a:ea typeface="Calibri"/>
              <a:cs typeface="Calibri"/>
              <a:sym typeface="Calibri"/>
            </a:endParaRPr>
          </a:p>
          <a:p>
            <a:pPr indent="0" lvl="0" marL="12700" rtl="0" algn="l">
              <a:lnSpc>
                <a:spcPct val="113888"/>
              </a:lnSpc>
              <a:spcBef>
                <a:spcPts val="795"/>
              </a:spcBef>
              <a:spcAft>
                <a:spcPts val="0"/>
              </a:spcAft>
              <a:buNone/>
            </a:pPr>
            <a:r>
              <a:rPr lang="en-US" sz="2000">
                <a:latin typeface="Calibri"/>
                <a:ea typeface="Calibri"/>
                <a:cs typeface="Calibri"/>
                <a:sym typeface="Calibri"/>
              </a:rPr>
              <a:t>[2] S. Gupta, R. Sharma, and P. Kumar, "AI-powered resume screening using NLP and machine learning," International Research Journal of Engineering and Technology (IREJ), vol. 11, no. 3, pp. 456-462, Mar. 2024.</a:t>
            </a:r>
            <a:endParaRPr sz="2000">
              <a:latin typeface="Calibri"/>
              <a:ea typeface="Calibri"/>
              <a:cs typeface="Calibri"/>
              <a:sym typeface="Calibri"/>
            </a:endParaRPr>
          </a:p>
          <a:p>
            <a:pPr indent="0" lvl="0" marL="12700" rtl="0" algn="l">
              <a:lnSpc>
                <a:spcPct val="100000"/>
              </a:lnSpc>
              <a:spcBef>
                <a:spcPts val="700"/>
              </a:spcBef>
              <a:spcAft>
                <a:spcPts val="0"/>
              </a:spcAft>
              <a:buNone/>
            </a:pPr>
            <a:r>
              <a:rPr lang="en-US" sz="2400">
                <a:solidFill>
                  <a:srgbClr val="C00000"/>
                </a:solidFill>
                <a:latin typeface="Calibri"/>
                <a:ea typeface="Calibri"/>
                <a:cs typeface="Calibri"/>
                <a:sym typeface="Calibri"/>
              </a:rPr>
              <a:t>Books</a:t>
            </a:r>
            <a:endParaRPr sz="2400">
              <a:latin typeface="Calibri"/>
              <a:ea typeface="Calibri"/>
              <a:cs typeface="Calibri"/>
              <a:sym typeface="Calibri"/>
            </a:endParaRPr>
          </a:p>
          <a:p>
            <a:pPr indent="0" lvl="0" marL="12700" rtl="0" algn="l">
              <a:lnSpc>
                <a:spcPct val="100000"/>
              </a:lnSpc>
              <a:spcBef>
                <a:spcPts val="760"/>
              </a:spcBef>
              <a:spcAft>
                <a:spcPts val="0"/>
              </a:spcAft>
              <a:buNone/>
            </a:pPr>
            <a:r>
              <a:rPr lang="en-US" sz="2000">
                <a:latin typeface="Calibri"/>
                <a:ea typeface="Calibri"/>
                <a:cs typeface="Calibri"/>
                <a:sym typeface="Calibri"/>
              </a:rPr>
              <a:t>[3] A. J. Stewart, A Vulnerable System: The History of Information Security in the Computer Age. Ithaca, NY, USA: Cornell Univ. Press, 2021.</a:t>
            </a:r>
            <a:endParaRPr sz="2000">
              <a:latin typeface="Calibri"/>
              <a:ea typeface="Calibri"/>
              <a:cs typeface="Calibri"/>
              <a:sym typeface="Calibri"/>
            </a:endParaRPr>
          </a:p>
          <a:p>
            <a:pPr indent="0" lvl="0" marL="12700" rtl="0" algn="l">
              <a:lnSpc>
                <a:spcPct val="100000"/>
              </a:lnSpc>
              <a:spcBef>
                <a:spcPts val="795"/>
              </a:spcBef>
              <a:spcAft>
                <a:spcPts val="0"/>
              </a:spcAft>
              <a:buNone/>
            </a:pPr>
            <a:r>
              <a:rPr lang="en-US" sz="2400">
                <a:solidFill>
                  <a:srgbClr val="C00000"/>
                </a:solidFill>
                <a:latin typeface="Calibri"/>
                <a:ea typeface="Calibri"/>
                <a:cs typeface="Calibri"/>
                <a:sym typeface="Calibri"/>
              </a:rPr>
              <a:t>Website</a:t>
            </a:r>
            <a:endParaRPr sz="2400">
              <a:solidFill>
                <a:srgbClr val="C00000"/>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latin typeface="Calibri"/>
                <a:ea typeface="Calibri"/>
                <a:cs typeface="Calibri"/>
                <a:sym typeface="Calibri"/>
              </a:rPr>
              <a:t>[4] D. Holland, “Finding the building blocks of wood,” Pursuit, University of Melbourne, 2023. [Online]. Available: pursuit.unimelb.edu.au.</a:t>
            </a:r>
            <a:endParaRPr sz="2200">
              <a:solidFill>
                <a:schemeClr val="dk1"/>
              </a:solidFill>
              <a:latin typeface="Calibri"/>
              <a:ea typeface="Calibri"/>
              <a:cs typeface="Calibri"/>
              <a:sym typeface="Calibri"/>
            </a:endParaRPr>
          </a:p>
          <a:p>
            <a:pPr indent="0" lvl="0" marL="12700" rtl="0" algn="l">
              <a:lnSpc>
                <a:spcPct val="100000"/>
              </a:lnSpc>
              <a:spcBef>
                <a:spcPts val="1200"/>
              </a:spcBef>
              <a:spcAft>
                <a:spcPts val="0"/>
              </a:spcAft>
              <a:buNone/>
            </a:pPr>
            <a:r>
              <a:rPr lang="en-US"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p:txBody>
      </p:sp>
      <p:sp>
        <p:nvSpPr>
          <p:cNvPr id="169" name="Google Shape;169;p21"/>
          <p:cNvSpPr txBox="1"/>
          <p:nvPr>
            <p:ph idx="10" type="dt"/>
          </p:nvPr>
        </p:nvSpPr>
        <p:spPr>
          <a:xfrm>
            <a:off x="911225" y="6435725"/>
            <a:ext cx="1090800" cy="277200"/>
          </a:xfrm>
          <a:prstGeom prst="rect">
            <a:avLst/>
          </a:prstGeom>
          <a:noFill/>
          <a:ln>
            <a:noFill/>
          </a:ln>
        </p:spPr>
        <p:txBody>
          <a:bodyPr anchorCtr="0" anchor="t" bIns="0" lIns="0" spcFirstLastPara="1" rIns="0" wrap="square" tIns="0">
            <a:spAutoFit/>
          </a:bodyPr>
          <a:lstStyle/>
          <a:p>
            <a:pPr indent="0" lvl="0" marL="12700" rtl="0" algn="l">
              <a:lnSpc>
                <a:spcPct val="100555"/>
              </a:lnSpc>
              <a:spcBef>
                <a:spcPts val="0"/>
              </a:spcBef>
              <a:spcAft>
                <a:spcPts val="0"/>
              </a:spcAft>
              <a:buNone/>
            </a:pPr>
            <a:r>
              <a:rPr lang="en-US"/>
              <a:t>6-03-2026</a:t>
            </a:r>
            <a:endParaRPr/>
          </a:p>
        </p:txBody>
      </p:sp>
      <p:sp>
        <p:nvSpPr>
          <p:cNvPr id="170" name="Google Shape;170;p21"/>
          <p:cNvSpPr txBox="1"/>
          <p:nvPr>
            <p:ph idx="11" type="ftr"/>
          </p:nvPr>
        </p:nvSpPr>
        <p:spPr>
          <a:xfrm>
            <a:off x="5172732" y="6466776"/>
            <a:ext cx="1845309" cy="177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FIRST REVIEW PRESENTATION</a:t>
            </a:r>
            <a:endParaRPr/>
          </a:p>
        </p:txBody>
      </p:sp>
      <p:sp>
        <p:nvSpPr>
          <p:cNvPr id="171" name="Google Shape;171;p21"/>
          <p:cNvSpPr txBox="1"/>
          <p:nvPr>
            <p:ph idx="12" type="sldNum"/>
          </p:nvPr>
        </p:nvSpPr>
        <p:spPr>
          <a:xfrm>
            <a:off x="11075491" y="6435725"/>
            <a:ext cx="244597" cy="2540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172" name="Google Shape;172;p21"/>
          <p:cNvSpPr txBox="1"/>
          <p:nvPr>
            <p:ph type="title"/>
          </p:nvPr>
        </p:nvSpPr>
        <p:spPr>
          <a:xfrm>
            <a:off x="3427108" y="117464"/>
            <a:ext cx="5334635" cy="639445"/>
          </a:xfrm>
          <a:prstGeom prst="rect">
            <a:avLst/>
          </a:prstGeom>
          <a:noFill/>
          <a:ln>
            <a:noFill/>
          </a:ln>
        </p:spPr>
        <p:txBody>
          <a:bodyPr anchorCtr="0" anchor="t" bIns="0" lIns="0" spcFirstLastPara="1" rIns="0" wrap="square" tIns="12700">
            <a:spAutoFit/>
          </a:bodyPr>
          <a:lstStyle/>
          <a:p>
            <a:pPr indent="0" lvl="0" marL="2540" rtl="0" algn="ctr">
              <a:lnSpc>
                <a:spcPct val="115625"/>
              </a:lnSpc>
              <a:spcBef>
                <a:spcPts val="0"/>
              </a:spcBef>
              <a:spcAft>
                <a:spcPts val="0"/>
              </a:spcAft>
              <a:buNone/>
            </a:pPr>
            <a:r>
              <a:rPr lang="en-US"/>
              <a:t>REFERENCES</a:t>
            </a:r>
            <a:endParaRPr/>
          </a:p>
          <a:p>
            <a:pPr indent="0" lvl="0" marL="0" rtl="0" algn="ctr">
              <a:lnSpc>
                <a:spcPct val="114166"/>
              </a:lnSpc>
              <a:spcBef>
                <a:spcPts val="0"/>
              </a:spcBef>
              <a:spcAft>
                <a:spcPts val="0"/>
              </a:spcAft>
              <a:buNone/>
            </a:pPr>
            <a:r>
              <a:rPr lang="en-US" sz="1800">
                <a:solidFill>
                  <a:srgbClr val="00B050"/>
                </a:solidFill>
              </a:rPr>
              <a:t>( Journal Papers/ Books / Website in IEEE Format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